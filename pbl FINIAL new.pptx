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0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44" r:id="rId3"/>
    <p:sldId id="257" r:id="rId4"/>
    <p:sldId id="260" r:id="rId5"/>
    <p:sldId id="349" r:id="rId6"/>
    <p:sldId id="350" r:id="rId7"/>
    <p:sldId id="342" r:id="rId8"/>
    <p:sldId id="264" r:id="rId9"/>
    <p:sldId id="266" r:id="rId10"/>
    <p:sldId id="268" r:id="rId11"/>
    <p:sldId id="351" r:id="rId12"/>
    <p:sldId id="343" r:id="rId13"/>
    <p:sldId id="272" r:id="rId14"/>
    <p:sldId id="345" r:id="rId15"/>
    <p:sldId id="346" r:id="rId16"/>
    <p:sldId id="347" r:id="rId17"/>
    <p:sldId id="348" r:id="rId18"/>
    <p:sldId id="276" r:id="rId19"/>
    <p:sldId id="270" r:id="rId20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MiSans" panose="020B0604020202020204" charset="0"/>
      <p:regular r:id="rId26"/>
    </p:embeddedFont>
    <p:embeddedFont>
      <p:font typeface="Trebuchet MS" panose="020B0603020202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662" userDrawn="1">
          <p15:clr>
            <a:srgbClr val="9AA0A6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22FF0-F880-488B-9BF8-728A4A840C15}" v="24" dt="2025-11-25T14:56:58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AB2216-43B3-495F-923B-072949DA21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4660"/>
  </p:normalViewPr>
  <p:slideViewPr>
    <p:cSldViewPr snapToGrid="0" showGuides="1">
      <p:cViewPr>
        <p:scale>
          <a:sx n="97" d="100"/>
          <a:sy n="97" d="100"/>
        </p:scale>
        <p:origin x="720" y="77"/>
      </p:cViewPr>
      <p:guideLst>
        <p:guide orient="horz" pos="66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B7FAC-5808-40CF-954C-B4374A693A23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DA69E6B3-A447-4063-9ACD-4BCC37C9B3AF}">
      <dgm:prSet phldrT="[Text]"/>
      <dgm:spPr/>
      <dgm:t>
        <a:bodyPr/>
        <a:lstStyle/>
        <a:p>
          <a:endParaRPr lang="en-IN" dirty="0"/>
        </a:p>
      </dgm:t>
    </dgm:pt>
    <dgm:pt modelId="{9882F7A7-5195-40BA-91B0-6DE78919410A}" type="parTrans" cxnId="{5FE9352D-A61A-4FF8-BA9F-14C75BD39F5F}">
      <dgm:prSet/>
      <dgm:spPr/>
      <dgm:t>
        <a:bodyPr/>
        <a:lstStyle/>
        <a:p>
          <a:endParaRPr lang="en-IN"/>
        </a:p>
      </dgm:t>
    </dgm:pt>
    <dgm:pt modelId="{7D978D8E-BD3D-4FE0-956B-E4A5481BC222}" type="sibTrans" cxnId="{5FE9352D-A61A-4FF8-BA9F-14C75BD39F5F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  <dgm:t>
        <a:bodyPr/>
        <a:lstStyle/>
        <a:p>
          <a:endParaRPr lang="en-IN"/>
        </a:p>
      </dgm:t>
    </dgm:pt>
    <dgm:pt modelId="{454A28D4-E5C3-4056-BD20-BA52A1390445}" type="pres">
      <dgm:prSet presAssocID="{C48B7FAC-5808-40CF-954C-B4374A693A23}" presName="Name0" presStyleCnt="0">
        <dgm:presLayoutVars>
          <dgm:chMax val="7"/>
          <dgm:chPref val="7"/>
          <dgm:dir/>
        </dgm:presLayoutVars>
      </dgm:prSet>
      <dgm:spPr/>
    </dgm:pt>
    <dgm:pt modelId="{3E40D516-C2BB-432D-9497-6EF6A3764306}" type="pres">
      <dgm:prSet presAssocID="{C48B7FAC-5808-40CF-954C-B4374A693A23}" presName="Name1" presStyleCnt="0"/>
      <dgm:spPr/>
    </dgm:pt>
    <dgm:pt modelId="{3197E87E-DAD9-4CB2-8F6E-C0CE5FF86B58}" type="pres">
      <dgm:prSet presAssocID="{7D978D8E-BD3D-4FE0-956B-E4A5481BC222}" presName="picture_1" presStyleCnt="0"/>
      <dgm:spPr/>
    </dgm:pt>
    <dgm:pt modelId="{5F2D48C4-5B7B-4E03-9BC9-654B205B0C2B}" type="pres">
      <dgm:prSet presAssocID="{7D978D8E-BD3D-4FE0-956B-E4A5481BC222}" presName="pictureRepeatNode" presStyleLbl="alignImgPlace1" presStyleIdx="0" presStyleCnt="1" custScaleX="200000" custScaleY="207685" custLinFactNeighborX="-22276" custLinFactNeighborY="-19070"/>
      <dgm:spPr/>
    </dgm:pt>
    <dgm:pt modelId="{EE810434-AF97-437D-BE35-ADF6B0A2787D}" type="pres">
      <dgm:prSet presAssocID="{DA69E6B3-A447-4063-9ACD-4BCC37C9B3AF}" presName="text_1" presStyleLbl="node1" presStyleIdx="0" presStyleCnt="0">
        <dgm:presLayoutVars>
          <dgm:bulletEnabled val="1"/>
        </dgm:presLayoutVars>
      </dgm:prSet>
      <dgm:spPr/>
    </dgm:pt>
  </dgm:ptLst>
  <dgm:cxnLst>
    <dgm:cxn modelId="{2C6E1F19-DCA7-4D76-8354-57CF4C95C386}" type="presOf" srcId="{DA69E6B3-A447-4063-9ACD-4BCC37C9B3AF}" destId="{EE810434-AF97-437D-BE35-ADF6B0A2787D}" srcOrd="0" destOrd="0" presId="urn:microsoft.com/office/officeart/2008/layout/CircularPictureCallout"/>
    <dgm:cxn modelId="{5FE9352D-A61A-4FF8-BA9F-14C75BD39F5F}" srcId="{C48B7FAC-5808-40CF-954C-B4374A693A23}" destId="{DA69E6B3-A447-4063-9ACD-4BCC37C9B3AF}" srcOrd="0" destOrd="0" parTransId="{9882F7A7-5195-40BA-91B0-6DE78919410A}" sibTransId="{7D978D8E-BD3D-4FE0-956B-E4A5481BC222}"/>
    <dgm:cxn modelId="{7F8DB682-67E2-4C10-AC83-03843EF79B92}" type="presOf" srcId="{C48B7FAC-5808-40CF-954C-B4374A693A23}" destId="{454A28D4-E5C3-4056-BD20-BA52A1390445}" srcOrd="0" destOrd="0" presId="urn:microsoft.com/office/officeart/2008/layout/CircularPictureCallout"/>
    <dgm:cxn modelId="{4513669D-5A7C-4FCF-A744-00316D57CD50}" type="presOf" srcId="{7D978D8E-BD3D-4FE0-956B-E4A5481BC222}" destId="{5F2D48C4-5B7B-4E03-9BC9-654B205B0C2B}" srcOrd="0" destOrd="0" presId="urn:microsoft.com/office/officeart/2008/layout/CircularPictureCallout"/>
    <dgm:cxn modelId="{F01C03AA-513C-4A8C-AD37-EB5E0CA38E93}" type="presParOf" srcId="{454A28D4-E5C3-4056-BD20-BA52A1390445}" destId="{3E40D516-C2BB-432D-9497-6EF6A3764306}" srcOrd="0" destOrd="0" presId="urn:microsoft.com/office/officeart/2008/layout/CircularPictureCallout"/>
    <dgm:cxn modelId="{1713E193-70FC-454F-9735-9E24A70644E7}" type="presParOf" srcId="{3E40D516-C2BB-432D-9497-6EF6A3764306}" destId="{3197E87E-DAD9-4CB2-8F6E-C0CE5FF86B58}" srcOrd="0" destOrd="0" presId="urn:microsoft.com/office/officeart/2008/layout/CircularPictureCallout"/>
    <dgm:cxn modelId="{06056DE8-CFA4-4033-B0D9-D2AD9ED197D4}" type="presParOf" srcId="{3197E87E-DAD9-4CB2-8F6E-C0CE5FF86B58}" destId="{5F2D48C4-5B7B-4E03-9BC9-654B205B0C2B}" srcOrd="0" destOrd="0" presId="urn:microsoft.com/office/officeart/2008/layout/CircularPictureCallout"/>
    <dgm:cxn modelId="{1A04983B-9BC3-4437-AD39-DD473DFF9094}" type="presParOf" srcId="{3E40D516-C2BB-432D-9497-6EF6A3764306}" destId="{EE810434-AF97-437D-BE35-ADF6B0A2787D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D48C4-5B7B-4E03-9BC9-654B205B0C2B}">
      <dsp:nvSpPr>
        <dsp:cNvPr id="0" name=""/>
        <dsp:cNvSpPr/>
      </dsp:nvSpPr>
      <dsp:spPr>
        <a:xfrm>
          <a:off x="0" y="-189477"/>
          <a:ext cx="1133475" cy="117702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810434-AF97-437D-BE35-ADF6B0A2787D}">
      <dsp:nvSpPr>
        <dsp:cNvPr id="0" name=""/>
        <dsp:cNvSpPr/>
      </dsp:nvSpPr>
      <dsp:spPr>
        <a:xfrm>
          <a:off x="385381" y="416605"/>
          <a:ext cx="362712" cy="18702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</dsp:txBody>
      <dsp:txXfrm>
        <a:off x="385381" y="416605"/>
        <a:ext cx="362712" cy="1870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76663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9a31a2570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3" name="Google Shape;213;g9a31a2570b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703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3789409"/>
            <a:ext cx="5637010" cy="66158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2" y="2349218"/>
            <a:ext cx="7175351" cy="1344875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548640"/>
            <a:ext cx="6400800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1629486"/>
            <a:ext cx="5966666" cy="1817510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3455633"/>
            <a:ext cx="5970494" cy="626595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548639"/>
            <a:ext cx="3346704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548640"/>
            <a:ext cx="3346704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050245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anose="02040502050405020303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049274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6" y="1657350"/>
            <a:ext cx="3636085" cy="943870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6" y="548640"/>
            <a:ext cx="4017085" cy="3671048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2623351"/>
            <a:ext cx="3388660" cy="16046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857250"/>
            <a:ext cx="4114800" cy="2345855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757865"/>
            <a:ext cx="3694114" cy="1622265"/>
          </a:xfrm>
        </p:spPr>
        <p:txBody>
          <a:bodyPr anchor="b"/>
          <a:lstStyle>
            <a:lvl1pPr marL="182880" indent="-182880">
              <a:buFont typeface="Georgia" panose="02040502050405020303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3348316"/>
            <a:ext cx="6383538" cy="85725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548639"/>
            <a:ext cx="6400800" cy="2606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282388"/>
            <a:ext cx="2057400" cy="3928754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4" y="548640"/>
            <a:ext cx="4829287" cy="36710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55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29050"/>
            <a:ext cx="9144000" cy="131445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2905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826228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90" y="3279126"/>
            <a:ext cx="6512511" cy="85725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9195"/>
            <a:ext cx="6400800" cy="2606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4629150"/>
            <a:ext cx="2514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8E80666-FB37-4B36-9149-507F3B0178E3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629150"/>
            <a:ext cx="33528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4629150"/>
            <a:ext cx="18288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7" r:id="rId12"/>
  </p:sldLayoutIdLst>
  <p:hf sldNum="0"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anose="02040502050405020303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001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33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62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g"/><Relationship Id="rId12" Type="http://schemas.openxmlformats.org/officeDocument/2006/relationships/image" Target="../media/image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image" Target="../media/image1.jpe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jp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3129" y="61937"/>
            <a:ext cx="867648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M University, Davanagere.</a:t>
            </a:r>
          </a:p>
          <a:p>
            <a:pPr algn="ctr"/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CS-Cyber Security &amp;</a:t>
            </a:r>
          </a:p>
          <a:p>
            <a:pPr algn="ctr"/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CS-Information Security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endParaRPr lang="en-I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9382" y="1442901"/>
            <a:ext cx="8483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Project Presentation on</a:t>
            </a:r>
          </a:p>
          <a:p>
            <a:pPr algn="ctr"/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“</a:t>
            </a:r>
            <a:r>
              <a:rPr lang="en-GB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Monitoring System</a:t>
            </a: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7619" y="4076354"/>
            <a:ext cx="24932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Project Guide:</a:t>
            </a:r>
          </a:p>
          <a:p>
            <a:r>
              <a:rPr lang="en-IN" b="1" dirty="0"/>
              <a:t>   Mrs . </a:t>
            </a:r>
            <a:r>
              <a:rPr lang="en-IN" b="1" dirty="0" err="1"/>
              <a:t>Nayana</a:t>
            </a:r>
            <a:r>
              <a:rPr lang="en-IN" b="1" dirty="0"/>
              <a:t> M R</a:t>
            </a:r>
          </a:p>
          <a:p>
            <a:r>
              <a:rPr lang="en-IN" dirty="0"/>
              <a:t> Assistant Professor</a:t>
            </a:r>
          </a:p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240777" y="4067258"/>
            <a:ext cx="2648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Head of the Department:      </a:t>
            </a:r>
            <a:r>
              <a:rPr lang="en-IN" b="1" dirty="0"/>
              <a:t>           Dr. Aruna Kumar B T</a:t>
            </a:r>
          </a:p>
          <a:p>
            <a:r>
              <a:rPr lang="en-IN" dirty="0"/>
              <a:t>     Assistant Professor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7965" y="2257324"/>
            <a:ext cx="385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Presented By:</a:t>
            </a:r>
          </a:p>
          <a:p>
            <a:endParaRPr lang="en-IN" dirty="0"/>
          </a:p>
          <a:p>
            <a:r>
              <a:rPr lang="en-IN" dirty="0"/>
              <a:t>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Kulkarni  Atharva          U24E01IY036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Naveen D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U24E01IY040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Nikhil Suthar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U24E01IY043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Pavan Kumar V M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U24E01CY095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Ujjwal Kumar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U24E01IY076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AEEAA-05B4-7F58-AC54-23D68049E8CD}"/>
              </a:ext>
            </a:extLst>
          </p:cNvPr>
          <p:cNvSpPr txBox="1"/>
          <p:nvPr/>
        </p:nvSpPr>
        <p:spPr>
          <a:xfrm>
            <a:off x="3467364" y="4095404"/>
            <a:ext cx="24932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Project Coordinator:</a:t>
            </a:r>
          </a:p>
          <a:p>
            <a:r>
              <a:rPr lang="en-IN" b="1" dirty="0"/>
              <a:t>      Mrs.  </a:t>
            </a:r>
            <a:r>
              <a:rPr lang="en-IN" b="1" dirty="0" err="1"/>
              <a:t>Nayana</a:t>
            </a:r>
            <a:r>
              <a:rPr lang="en-IN" b="1" dirty="0"/>
              <a:t> M R</a:t>
            </a:r>
          </a:p>
          <a:p>
            <a:r>
              <a:rPr lang="en-IN" dirty="0"/>
              <a:t>    Assistant Professor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E30DBE-835F-B3CF-1941-B4509FCCC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167" y="-1"/>
            <a:ext cx="1053833" cy="105383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203" y="679416"/>
            <a:ext cx="6987940" cy="717900"/>
          </a:xfrm>
        </p:spPr>
        <p:txBody>
          <a:bodyPr>
            <a:normAutofit fontScale="90000"/>
          </a:bodyPr>
          <a:lstStyle/>
          <a:p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endParaRPr lang="en-GB" sz="1500" b="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3598495" y="2183497"/>
            <a:ext cx="1703438" cy="307777"/>
          </a:xfrm>
        </p:spPr>
        <p:txBody>
          <a:bodyPr>
            <a:normAutofit fontScale="92500" lnSpcReduction="10000"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TEAM-MATES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3640" y="595501"/>
            <a:ext cx="454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b="1" dirty="0" err="1"/>
              <a:t>Nayana</a:t>
            </a:r>
            <a:r>
              <a:rPr lang="en-IN" sz="1800" b="1" dirty="0"/>
              <a:t> M R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7650" y="4426026"/>
            <a:ext cx="316403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Naveen N D                        Kulkarni Atharva </a:t>
            </a:r>
          </a:p>
          <a:p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1682" y="4417834"/>
            <a:ext cx="5808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Ujjwal Kumar                                                                                                Pawan Kumar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            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0347" y="4495859"/>
            <a:ext cx="974947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Nikhil Suthar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20BD62-AB29-30B8-2352-95F0A7CB662A}"/>
              </a:ext>
            </a:extLst>
          </p:cNvPr>
          <p:cNvSpPr/>
          <p:nvPr/>
        </p:nvSpPr>
        <p:spPr>
          <a:xfrm>
            <a:off x="1941856" y="3253336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19E8A92-B6AA-7A4A-9AA6-F064CF094B14}"/>
              </a:ext>
            </a:extLst>
          </p:cNvPr>
          <p:cNvSpPr/>
          <p:nvPr/>
        </p:nvSpPr>
        <p:spPr>
          <a:xfrm>
            <a:off x="3843010" y="321811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3CA59B-5615-9013-6133-F1D7285A4719}"/>
              </a:ext>
            </a:extLst>
          </p:cNvPr>
          <p:cNvSpPr/>
          <p:nvPr/>
        </p:nvSpPr>
        <p:spPr>
          <a:xfrm>
            <a:off x="5805489" y="3218116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20BD62-AB29-30B8-2352-95F0A7CB662A}"/>
              </a:ext>
            </a:extLst>
          </p:cNvPr>
          <p:cNvSpPr/>
          <p:nvPr/>
        </p:nvSpPr>
        <p:spPr>
          <a:xfrm>
            <a:off x="332131" y="325333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8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D3CA59B-5615-9013-6133-F1D7285A4719}"/>
              </a:ext>
            </a:extLst>
          </p:cNvPr>
          <p:cNvSpPr/>
          <p:nvPr/>
        </p:nvSpPr>
        <p:spPr>
          <a:xfrm>
            <a:off x="7664283" y="325333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" y="-1846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52401" y="-322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04801" y="1201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57201" y="2725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609601" y="424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762001" y="5773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914401" y="7297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graphicFrame>
        <p:nvGraphicFramePr>
          <p:cNvPr id="26" name="Diagram 25"/>
          <p:cNvGraphicFramePr/>
          <p:nvPr/>
        </p:nvGraphicFramePr>
        <p:xfrm>
          <a:off x="304801" y="3405738"/>
          <a:ext cx="1133475" cy="798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Picture 22" descr="A person with a mustache and curly hair&#10;&#10;AI-generated content may be incorrect.">
            <a:extLst>
              <a:ext uri="{FF2B5EF4-FFF2-40B4-BE49-F238E27FC236}">
                <a16:creationId xmlns:a16="http://schemas.microsoft.com/office/drawing/2014/main" id="{9163F7AD-DA06-0787-E759-00873DCCD2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445" y="3218116"/>
            <a:ext cx="1004664" cy="105551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5" name="Picture 24" descr="A person with a mustache wearing a white shirt&#10;&#10;AI-generated content may be incorrect.">
            <a:extLst>
              <a:ext uri="{FF2B5EF4-FFF2-40B4-BE49-F238E27FC236}">
                <a16:creationId xmlns:a16="http://schemas.microsoft.com/office/drawing/2014/main" id="{9580D11B-C3F1-0959-2084-3A5B313477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3010" y="3182670"/>
            <a:ext cx="1004665" cy="104643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9" name="Picture 28" descr="A person in a blue shirt&#10;&#10;AI-generated content may be incorrect.">
            <a:extLst>
              <a:ext uri="{FF2B5EF4-FFF2-40B4-BE49-F238E27FC236}">
                <a16:creationId xmlns:a16="http://schemas.microsoft.com/office/drawing/2014/main" id="{551C9409-0E1C-E221-C85F-59CB45BB93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5489" y="3169391"/>
            <a:ext cx="1004665" cy="9933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3" name="Picture 32" descr="A person in a blue shirt&#10;&#10;AI-generated content may be incorrect.">
            <a:extLst>
              <a:ext uri="{FF2B5EF4-FFF2-40B4-BE49-F238E27FC236}">
                <a16:creationId xmlns:a16="http://schemas.microsoft.com/office/drawing/2014/main" id="{25F4666F-5C3E-891A-3B1B-3D64F6CDBB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4283" y="3229861"/>
            <a:ext cx="1004665" cy="108096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5F812E-BC39-B9FD-F18B-CF02622B7E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168" y="0"/>
            <a:ext cx="1053833" cy="10538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01BC39E-A646-8A5A-6596-B81BA92DB0B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08"/>
            <a:ext cx="1554364" cy="1662973"/>
          </a:xfrm>
          <a:prstGeom prst="rect">
            <a:avLst/>
          </a:prstGeom>
        </p:spPr>
      </p:pic>
      <p:sp>
        <p:nvSpPr>
          <p:cNvPr id="28" name="Shape 9">
            <a:extLst>
              <a:ext uri="{FF2B5EF4-FFF2-40B4-BE49-F238E27FC236}">
                <a16:creationId xmlns:a16="http://schemas.microsoft.com/office/drawing/2014/main" id="{FCEABB9D-DE0C-5948-6A1A-09823503715C}"/>
              </a:ext>
            </a:extLst>
          </p:cNvPr>
          <p:cNvSpPr/>
          <p:nvPr/>
        </p:nvSpPr>
        <p:spPr>
          <a:xfrm>
            <a:off x="8755159" y="4022259"/>
            <a:ext cx="1361531" cy="1361531"/>
          </a:xfrm>
          <a:prstGeom prst="ellipse">
            <a:avLst/>
          </a:prstGeom>
          <a:gradFill flip="none" rotWithShape="1">
            <a:gsLst>
              <a:gs pos="0">
                <a:srgbClr val="90D0DF"/>
              </a:gs>
              <a:gs pos="12000">
                <a:srgbClr val="90D0DF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761532E-C1ED-F7CD-4146-448AFAA9A7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60651" y="4697489"/>
            <a:ext cx="672143" cy="672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5-d2r90v9e3tpg8rchuqd0.png"/>
          <p:cNvPicPr>
            <a:picLocks noChangeAspect="1"/>
          </p:cNvPicPr>
          <p:nvPr/>
        </p:nvPicPr>
        <p:blipFill>
          <a:blip r:embed="rId3"/>
          <a:srcRect l="3322" r="3322"/>
          <a:stretch/>
        </p:blipFill>
        <p:spPr>
          <a:xfrm>
            <a:off x="0" y="14847"/>
            <a:ext cx="9156383" cy="51615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128236" y="1735932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4" name="Shape 1"/>
          <p:cNvSpPr/>
          <p:nvPr/>
        </p:nvSpPr>
        <p:spPr>
          <a:xfrm flipH="1">
            <a:off x="1128236" y="2202181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5" name="Shape 2"/>
          <p:cNvSpPr/>
          <p:nvPr/>
        </p:nvSpPr>
        <p:spPr>
          <a:xfrm flipH="1">
            <a:off x="1128236" y="2668429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Shape 3"/>
          <p:cNvSpPr/>
          <p:nvPr/>
        </p:nvSpPr>
        <p:spPr>
          <a:xfrm flipH="1">
            <a:off x="1128236" y="3134678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7" name="Shape 4"/>
          <p:cNvSpPr/>
          <p:nvPr/>
        </p:nvSpPr>
        <p:spPr>
          <a:xfrm flipH="1">
            <a:off x="1128236" y="3600927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Shape 5"/>
          <p:cNvSpPr/>
          <p:nvPr/>
        </p:nvSpPr>
        <p:spPr>
          <a:xfrm flipH="1">
            <a:off x="1128236" y="4067176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628650" y="976312"/>
            <a:ext cx="3471863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9571" y="1693069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79672" y="1734503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NTRODUCTION</a:t>
            </a: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&amp; Overview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9571" y="2159318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79672" y="2200752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9571" y="2625567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79672" y="2667000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9571" y="3091815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79672" y="3133249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9571" y="3558064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79672" y="3599498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9571" y="4024313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79672" y="4070509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3B9471D-6CCA-C2F5-FF81-D405FDE80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76" y="-1429"/>
            <a:ext cx="3555206" cy="5144929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-476" y="-1429"/>
            <a:ext cx="3555206" cy="514492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4" name="Image 0" descr="https://kimi-img.moonshot.cn/pub/slides/slides_tmpl/image/25-09-02-14:36:47-d2r90vpe3tpg8rchuqi0.jpg"/>
          <p:cNvPicPr>
            <a:picLocks noChangeAspect="1"/>
          </p:cNvPicPr>
          <p:nvPr/>
        </p:nvPicPr>
        <p:blipFill>
          <a:blip r:embed="rId3"/>
          <a:srcRect l="44049" r="21872"/>
          <a:stretch/>
        </p:blipFill>
        <p:spPr>
          <a:xfrm>
            <a:off x="0" y="0"/>
            <a:ext cx="3542824" cy="5145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800" y="1131570"/>
            <a:ext cx="2651760" cy="341757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3"/>
          <p:cNvSpPr/>
          <p:nvPr/>
        </p:nvSpPr>
        <p:spPr>
          <a:xfrm>
            <a:off x="304800" y="1131570"/>
            <a:ext cx="2651760" cy="341757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3840" y="239554"/>
            <a:ext cx="3108008" cy="7155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Overview &amp; Goals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6244" y="1940719"/>
            <a:ext cx="2384108" cy="0"/>
          </a:xfrm>
          <a:prstGeom prst="line">
            <a:avLst/>
          </a:prstGeom>
          <a:noFill/>
          <a:ln w="31750">
            <a:solidFill>
              <a:srgbClr val="49B2F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Shape 6"/>
          <p:cNvSpPr/>
          <p:nvPr/>
        </p:nvSpPr>
        <p:spPr>
          <a:xfrm>
            <a:off x="426244" y="1874044"/>
            <a:ext cx="2384108" cy="0"/>
          </a:xfrm>
          <a:prstGeom prst="line">
            <a:avLst/>
          </a:prstGeom>
          <a:noFill/>
          <a:ln w="12700">
            <a:solidFill>
              <a:srgbClr val="49B2F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Shape 7"/>
          <p:cNvSpPr/>
          <p:nvPr/>
        </p:nvSpPr>
        <p:spPr>
          <a:xfrm>
            <a:off x="3750469" y="925354"/>
            <a:ext cx="4737735" cy="1429226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" name="Text 8"/>
          <p:cNvSpPr/>
          <p:nvPr/>
        </p:nvSpPr>
        <p:spPr>
          <a:xfrm>
            <a:off x="3750469" y="925354"/>
            <a:ext cx="4737735" cy="142922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 rot="5400000">
            <a:off x="3951923" y="1046321"/>
            <a:ext cx="203359" cy="189548"/>
          </a:xfrm>
          <a:prstGeom prst="triangle">
            <a:avLst>
              <a:gd name="adj" fmla="val 50000"/>
            </a:avLst>
          </a:prstGeom>
          <a:solidFill>
            <a:srgbClr val="018EF4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3" name="Text 10"/>
          <p:cNvSpPr/>
          <p:nvPr/>
        </p:nvSpPr>
        <p:spPr>
          <a:xfrm rot="5400000">
            <a:off x="3951923" y="1046321"/>
            <a:ext cx="203359" cy="18954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50469" y="2780824"/>
            <a:ext cx="4737735" cy="1429226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" name="Text 12"/>
          <p:cNvSpPr/>
          <p:nvPr/>
        </p:nvSpPr>
        <p:spPr>
          <a:xfrm>
            <a:off x="3750469" y="2780824"/>
            <a:ext cx="4737735" cy="142922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rot="5400000">
            <a:off x="3951923" y="2901791"/>
            <a:ext cx="203359" cy="189548"/>
          </a:xfrm>
          <a:prstGeom prst="triangle">
            <a:avLst>
              <a:gd name="adj" fmla="val 50000"/>
            </a:avLst>
          </a:prstGeom>
          <a:solidFill>
            <a:srgbClr val="018EF4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7" name="Text 14"/>
          <p:cNvSpPr/>
          <p:nvPr/>
        </p:nvSpPr>
        <p:spPr>
          <a:xfrm rot="5400000">
            <a:off x="3951923" y="2901791"/>
            <a:ext cx="203359" cy="18954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6244" y="1309688"/>
            <a:ext cx="2384108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6720" y="1996441"/>
            <a:ext cx="2386965" cy="133235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This project aims to develop a real-time health monitoring system using IoT sensors to track temperature and heart rate (BPM).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189572" y="1022032"/>
            <a:ext cx="4106704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Review 2 Focus Areas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72389" y="1279684"/>
            <a:ext cx="4429125" cy="72199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focus of Review 2 includes sensor accuracy, data handling efficiency, protocol evaluation, and performance metrics to ensure system reliability.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189572" y="2877502"/>
            <a:ext cx="4106704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Key Deliverable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872389" y="3135154"/>
            <a:ext cx="4429125" cy="495777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key deliverable is a functional health dashboard that provides real-time data analysis and insights for continuous health monitoring.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73DE63-03BC-4855-B9A0-3F737E89C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5382" y="343078"/>
            <a:ext cx="19752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Required Components</a:t>
            </a:r>
          </a:p>
        </p:txBody>
      </p:sp>
      <p:sp>
        <p:nvSpPr>
          <p:cNvPr id="5" name="Shape 3"/>
          <p:cNvSpPr/>
          <p:nvPr/>
        </p:nvSpPr>
        <p:spPr>
          <a:xfrm>
            <a:off x="7143" y="0"/>
            <a:ext cx="9155430" cy="855407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Rectangle 5"/>
          <p:cNvSpPr/>
          <p:nvPr/>
        </p:nvSpPr>
        <p:spPr>
          <a:xfrm>
            <a:off x="408570" y="227648"/>
            <a:ext cx="26581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</a:t>
            </a:r>
            <a:r>
              <a:rPr lang="en-IN" sz="2000" b="1" dirty="0"/>
              <a:t>Components Used :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65471" y="948284"/>
            <a:ext cx="8455742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1.ESP32  Board (ESP32-WROOM-32)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Built-in Wi-Fi, ADC, I²C support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• Easy programming 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Arduino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 / ESP-IDF)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2.Temperature &amp; Humidity Sensor (DHT11 / DHT22)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Measures temperature and humidity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3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.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DHT22 recommended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for higher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4.Heart Rate / 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SpO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₂ Sensor (Choose one)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MAX30102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Heart rate +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SpO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₂ (I²C based)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Pulse Sensor Amped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Heartbeat only (Analog)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tx1"/>
                </a:solidFill>
                <a:latin typeface="Arial" charset="0"/>
                <a:cs typeface="Arial" charset="0"/>
              </a:rPr>
              <a:t>5.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Jumper Wires (M–M, M–F)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Used for sensor connections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129" y="1262216"/>
            <a:ext cx="2838450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6971948" y="3864173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/>
              <a:t>ESP32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259654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0554" y="1258955"/>
            <a:ext cx="581578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6.Breadboard (Optional)</a:t>
            </a:r>
            <a:b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Helps in neat and easy prototyping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7.USB Cable</a:t>
            </a:r>
            <a:b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Programming and power supply</a:t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9155430" cy="76462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43" y="2882847"/>
            <a:ext cx="2932318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109" y="2827999"/>
            <a:ext cx="3490451" cy="2003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566379" y="4643483"/>
            <a:ext cx="12490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Jumper wires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331109" y="4643482"/>
            <a:ext cx="32593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Analog pulse sensor wired to ADC pin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237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Sensor Data Acquisition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11766" y="-10478"/>
            <a:ext cx="2640330" cy="51539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6511766" y="-10478"/>
            <a:ext cx="2640330" cy="515397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6267" y="1375410"/>
            <a:ext cx="6948011" cy="1325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606267" y="1375410"/>
            <a:ext cx="6948011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4860" y="1541145"/>
            <a:ext cx="994410" cy="9944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784860" y="154114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6267" y="3059430"/>
            <a:ext cx="6948011" cy="1325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606267" y="3059430"/>
            <a:ext cx="6948011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4860" y="3225165"/>
            <a:ext cx="994410" cy="9944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784860" y="322516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7258" y="173783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73104" y="1584007"/>
            <a:ext cx="5084445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Sensors Used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73104" y="1847850"/>
            <a:ext cx="5084445" cy="52443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uses DHT22 for temperature (±0.5°C) and MAX30102 for heart rate (±5 BPM) to ensure accurate health monitoring.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7258" y="342185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73104" y="3268027"/>
            <a:ext cx="5084445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73104" y="3531870"/>
            <a:ext cx="5084445" cy="76450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undergoes digital filtering, outlier detection, and moving average smoothing to ensure high-quality, noise-free readings for reliable analysis.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02BCD6-FE35-4A56-2F00-C0830B66F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1" y="249079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Structuring &amp; Cleaning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3810" y="4149567"/>
            <a:ext cx="9155430" cy="99393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-3810" y="4149567"/>
            <a:ext cx="9155430" cy="99393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flipH="1">
            <a:off x="47434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47434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434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47434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434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7434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H="1">
            <a:off x="252031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252031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2031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6" name="Text 14"/>
          <p:cNvSpPr/>
          <p:nvPr/>
        </p:nvSpPr>
        <p:spPr>
          <a:xfrm>
            <a:off x="252031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2031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" name="Text 16"/>
          <p:cNvSpPr/>
          <p:nvPr/>
        </p:nvSpPr>
        <p:spPr>
          <a:xfrm>
            <a:off x="252031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H="1">
            <a:off x="456628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" name="Text 18"/>
          <p:cNvSpPr/>
          <p:nvPr/>
        </p:nvSpPr>
        <p:spPr>
          <a:xfrm>
            <a:off x="456628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6628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2" name="Text 20"/>
          <p:cNvSpPr/>
          <p:nvPr/>
        </p:nvSpPr>
        <p:spPr>
          <a:xfrm>
            <a:off x="456628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6628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" name="Text 22"/>
          <p:cNvSpPr/>
          <p:nvPr/>
        </p:nvSpPr>
        <p:spPr>
          <a:xfrm>
            <a:off x="456628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H="1">
            <a:off x="661225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" name="Text 24"/>
          <p:cNvSpPr/>
          <p:nvPr/>
        </p:nvSpPr>
        <p:spPr>
          <a:xfrm>
            <a:off x="661225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1225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8" name="Text 26"/>
          <p:cNvSpPr/>
          <p:nvPr/>
        </p:nvSpPr>
        <p:spPr>
          <a:xfrm>
            <a:off x="661225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1225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0" name="Text 28"/>
          <p:cNvSpPr/>
          <p:nvPr/>
        </p:nvSpPr>
        <p:spPr>
          <a:xfrm>
            <a:off x="661225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93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Noise Removal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8649" y="2344579"/>
            <a:ext cx="1632109" cy="137851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Median filtering is applied to eliminate sensor spikes and erratic readings, ensuring clean data for analysis.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67890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64619" y="2344579"/>
            <a:ext cx="1632109" cy="11569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is normalized to a 0-100 scale for consistent analysis across different sensors and metrics.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2487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Organization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10589" y="2344579"/>
            <a:ext cx="1632109" cy="137851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is organized in JSON/CSV format with timestamp, sensor ID, and value fields for efficient storage and querying.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7084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56559" y="2344579"/>
            <a:ext cx="1632109" cy="160011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includes null value detection, failed reading management, and automatic retries to handle data acquisition errors.</a:t>
            </a:r>
            <a:endParaRPr lang="en-US" sz="16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1C81ABE-1210-0DC8-81CB-387A82601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Communication Protocols Evaluated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1465421" y="4005739"/>
            <a:ext cx="371475" cy="368141"/>
          </a:xfrm>
          <a:prstGeom prst="ellipse">
            <a:avLst/>
          </a:prstGeom>
          <a:gradFill flip="none" rotWithShape="1">
            <a:gsLst>
              <a:gs pos="0">
                <a:srgbClr val="92D050"/>
              </a:gs>
              <a:gs pos="29000">
                <a:srgbClr val="92D050"/>
              </a:gs>
              <a:gs pos="100000">
                <a:srgbClr val="FFFF00"/>
              </a:gs>
            </a:gsLst>
            <a:lin ang="108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1465421" y="4005739"/>
            <a:ext cx="371475" cy="368141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7228" y="1236821"/>
            <a:ext cx="7766209" cy="3400425"/>
          </a:xfrm>
          <a:prstGeom prst="roundRect">
            <a:avLst>
              <a:gd name="adj" fmla="val 8217"/>
            </a:avLst>
          </a:prstGeom>
          <a:solidFill>
            <a:srgbClr val="FFFFFF"/>
          </a:solidFill>
          <a:ln w="12700">
            <a:gradFill flip="none" rotWithShape="1">
              <a:gsLst>
                <a:gs pos="0">
                  <a:srgbClr val="49B2FE"/>
                </a:gs>
                <a:gs pos="100000">
                  <a:srgbClr val="95D7F9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677228" y="1236821"/>
            <a:ext cx="7766209" cy="34004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82028" y="2174558"/>
            <a:ext cx="36450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955358" y="1768316"/>
            <a:ext cx="3695700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49B2F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 Selection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82027" y="2295049"/>
            <a:ext cx="3706178" cy="115179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MQTT was selected for its low-bandwidth, pub-sub efficiency, ensuring reliable and efficient data transmission from sensors to the dashboard.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A03FEF-AF54-54EF-8448-6C15EA77F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7" name="Image 0" descr="https://kimi-img.moonshot.cn/pub/slides/slides_tmpl/image/25-09-02-14:36:45-d2r90v9e3tpg8rchuqfg.png">
            <a:extLst>
              <a:ext uri="{FF2B5EF4-FFF2-40B4-BE49-F238E27FC236}">
                <a16:creationId xmlns:a16="http://schemas.microsoft.com/office/drawing/2014/main" id="{2E936007-E511-C9BC-6ACF-6CF0B0410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988" y="983693"/>
            <a:ext cx="3232784" cy="39066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0">
            <a:off x="751047" y="1262539"/>
            <a:ext cx="1843564" cy="2921794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 rot="21000000">
            <a:off x="751047" y="1262539"/>
            <a:ext cx="1843564" cy="292179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4" name="Image 0" descr="https://kimi-img.moonshot.cn/pub/slides/slides_tmpl/image/25-09-02-14:36:45-d2r90v9e3tpg8rchuq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3" y="1413034"/>
            <a:ext cx="2011680" cy="29308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 Interpretation &amp; Validation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7" name="Text 4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63716" y="1181100"/>
            <a:ext cx="5576888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3063716" y="1181100"/>
            <a:ext cx="5576888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2310" y="1346835"/>
            <a:ext cx="994410" cy="99441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1" name="Text 8"/>
          <p:cNvSpPr/>
          <p:nvPr/>
        </p:nvSpPr>
        <p:spPr>
          <a:xfrm>
            <a:off x="3242310" y="134683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74708" y="154352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63716" y="2750820"/>
            <a:ext cx="5576888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" name="Text 11"/>
          <p:cNvSpPr/>
          <p:nvPr/>
        </p:nvSpPr>
        <p:spPr>
          <a:xfrm>
            <a:off x="3063716" y="2750820"/>
            <a:ext cx="5576888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42310" y="2916555"/>
            <a:ext cx="994410" cy="99441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6" name="Text 13"/>
          <p:cNvSpPr/>
          <p:nvPr/>
        </p:nvSpPr>
        <p:spPr>
          <a:xfrm>
            <a:off x="3242310" y="291655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74708" y="311324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35844" y="1703546"/>
            <a:ext cx="1604228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Sensor Trends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5844" y="2195989"/>
            <a:ext cx="1632109" cy="160011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Temperature remains stable between 96.6-97.2°C, and BPM ranges from 60-80 bpm, aligning with normal physiological patterns.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30554" y="1293495"/>
            <a:ext cx="4067651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Dashboard Accuracy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30554" y="1557337"/>
            <a:ext cx="4067651" cy="7137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dashboard accurately visualizes time-series graphs, showing consistent and reliable data for real-time health monitoring.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30554" y="2863215"/>
            <a:ext cx="4067651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Consistency Check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430554" y="3127057"/>
            <a:ext cx="4067651" cy="492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Multiple readings were validated, confirming no major discrepancies and ensuring data integrity and accuracy.</a:t>
            </a:r>
            <a:endParaRPr lang="en-US" sz="1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3C39FA-9D28-70B2-BF0A-DC619FA47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RT\AppData\Local\Packages\5319275A.WhatsAppDesktop_cv1g1gvanyjgm\LocalState\sessions\BC026C01153E34C7D47869B0045E50E3E9492F7D\transfers\2025-52\_- visual selection (23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69" y="480848"/>
            <a:ext cx="7796048" cy="4521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3"/>
          <p:cNvSpPr/>
          <p:nvPr/>
        </p:nvSpPr>
        <p:spPr>
          <a:xfrm>
            <a:off x="4117" y="0"/>
            <a:ext cx="9155430" cy="46508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" name="Rectangle 1"/>
          <p:cNvSpPr/>
          <p:nvPr/>
        </p:nvSpPr>
        <p:spPr>
          <a:xfrm>
            <a:off x="235279" y="32486"/>
            <a:ext cx="17059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Work Flow  :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340382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Performance Metrics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29665" y="1039654"/>
            <a:ext cx="3223260" cy="33375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1129665" y="1039654"/>
            <a:ext cx="3223260" cy="333756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91075" y="1039654"/>
            <a:ext cx="3223260" cy="33375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4791075" y="1039654"/>
            <a:ext cx="3223260" cy="333756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-2857" y="3108484"/>
            <a:ext cx="9154954" cy="2035016"/>
          </a:xfrm>
          <a:custGeom>
            <a:avLst/>
            <a:gdLst/>
            <a:ahLst/>
            <a:cxnLst/>
            <a:rect l="l" t="t" r="r" b="b"/>
            <a:pathLst>
              <a:path w="12206605" h="2713355">
                <a:moveTo>
                  <a:pt x="0" y="1346200"/>
                </a:moveTo>
                <a:cubicBezTo>
                  <a:pt x="1021080" y="554355"/>
                  <a:pt x="3368040" y="0"/>
                  <a:pt x="6099810" y="0"/>
                </a:cubicBezTo>
                <a:cubicBezTo>
                  <a:pt x="8837930" y="0"/>
                  <a:pt x="11189335" y="556895"/>
                  <a:pt x="12206605" y="1351280"/>
                </a:cubicBezTo>
                <a:lnTo>
                  <a:pt x="12206605" y="2713355"/>
                </a:lnTo>
                <a:lnTo>
                  <a:pt x="0" y="2713355"/>
                </a:lnTo>
                <a:lnTo>
                  <a:pt x="0" y="134620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-2857" y="3108484"/>
            <a:ext cx="9154954" cy="203501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075" y="3110195"/>
            <a:ext cx="3223260" cy="1267019"/>
          </a:xfrm>
          <a:custGeom>
            <a:avLst/>
            <a:gdLst/>
            <a:ahLst/>
            <a:cxnLst/>
            <a:rect l="l" t="t" r="r" b="b"/>
            <a:pathLst>
              <a:path w="4297680" h="1689358">
                <a:moveTo>
                  <a:pt x="0" y="0"/>
                </a:moveTo>
                <a:lnTo>
                  <a:pt x="55245" y="635"/>
                </a:lnTo>
                <a:lnTo>
                  <a:pt x="227330" y="4446"/>
                </a:lnTo>
                <a:lnTo>
                  <a:pt x="398145" y="9526"/>
                </a:lnTo>
                <a:lnTo>
                  <a:pt x="567690" y="16513"/>
                </a:lnTo>
                <a:lnTo>
                  <a:pt x="735330" y="24134"/>
                </a:lnTo>
                <a:lnTo>
                  <a:pt x="902335" y="33660"/>
                </a:lnTo>
                <a:lnTo>
                  <a:pt x="1067435" y="44457"/>
                </a:lnTo>
                <a:lnTo>
                  <a:pt x="1231265" y="56524"/>
                </a:lnTo>
                <a:lnTo>
                  <a:pt x="1393825" y="70496"/>
                </a:lnTo>
                <a:lnTo>
                  <a:pt x="1554480" y="85103"/>
                </a:lnTo>
                <a:lnTo>
                  <a:pt x="1713230" y="100980"/>
                </a:lnTo>
                <a:lnTo>
                  <a:pt x="1870710" y="118763"/>
                </a:lnTo>
                <a:lnTo>
                  <a:pt x="2026285" y="137181"/>
                </a:lnTo>
                <a:lnTo>
                  <a:pt x="2179955" y="157504"/>
                </a:lnTo>
                <a:lnTo>
                  <a:pt x="2332355" y="178462"/>
                </a:lnTo>
                <a:lnTo>
                  <a:pt x="2482215" y="201326"/>
                </a:lnTo>
                <a:lnTo>
                  <a:pt x="2630170" y="224824"/>
                </a:lnTo>
                <a:lnTo>
                  <a:pt x="2776220" y="249593"/>
                </a:lnTo>
                <a:lnTo>
                  <a:pt x="2919730" y="275632"/>
                </a:lnTo>
                <a:lnTo>
                  <a:pt x="3061335" y="302941"/>
                </a:lnTo>
                <a:lnTo>
                  <a:pt x="3201035" y="330886"/>
                </a:lnTo>
                <a:lnTo>
                  <a:pt x="3338195" y="360100"/>
                </a:lnTo>
                <a:lnTo>
                  <a:pt x="3473450" y="390585"/>
                </a:lnTo>
                <a:lnTo>
                  <a:pt x="3606165" y="422340"/>
                </a:lnTo>
                <a:cubicBezTo>
                  <a:pt x="3863975" y="480768"/>
                  <a:pt x="4330065" y="623665"/>
                  <a:pt x="4297680" y="616044"/>
                </a:cubicBezTo>
                <a:lnTo>
                  <a:pt x="4297680" y="1516612"/>
                </a:lnTo>
                <a:cubicBezTo>
                  <a:pt x="4300855" y="1613781"/>
                  <a:pt x="4211955" y="1691898"/>
                  <a:pt x="4124960" y="1689358"/>
                </a:cubicBezTo>
                <a:lnTo>
                  <a:pt x="172720" y="1689358"/>
                </a:lnTo>
                <a:cubicBezTo>
                  <a:pt x="75565" y="1692533"/>
                  <a:pt x="-2540" y="1603620"/>
                  <a:pt x="0" y="1516612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62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791075" y="3110195"/>
            <a:ext cx="3223260" cy="126701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29665" y="3110195"/>
            <a:ext cx="3223260" cy="1267019"/>
          </a:xfrm>
          <a:custGeom>
            <a:avLst/>
            <a:gdLst/>
            <a:ahLst/>
            <a:cxnLst/>
            <a:rect l="l" t="t" r="r" b="b"/>
            <a:pathLst>
              <a:path w="4297680" h="1689358">
                <a:moveTo>
                  <a:pt x="0" y="616044"/>
                </a:moveTo>
                <a:cubicBezTo>
                  <a:pt x="112395" y="574763"/>
                  <a:pt x="655320" y="425515"/>
                  <a:pt x="691515" y="422340"/>
                </a:cubicBezTo>
                <a:lnTo>
                  <a:pt x="824230" y="390585"/>
                </a:lnTo>
                <a:lnTo>
                  <a:pt x="959485" y="360100"/>
                </a:lnTo>
                <a:lnTo>
                  <a:pt x="1096645" y="330886"/>
                </a:lnTo>
                <a:lnTo>
                  <a:pt x="1236345" y="302941"/>
                </a:lnTo>
                <a:lnTo>
                  <a:pt x="1377950" y="275632"/>
                </a:lnTo>
                <a:lnTo>
                  <a:pt x="1521460" y="249593"/>
                </a:lnTo>
                <a:lnTo>
                  <a:pt x="1667510" y="224824"/>
                </a:lnTo>
                <a:lnTo>
                  <a:pt x="1815465" y="201326"/>
                </a:lnTo>
                <a:lnTo>
                  <a:pt x="1965325" y="178462"/>
                </a:lnTo>
                <a:lnTo>
                  <a:pt x="2117725" y="157504"/>
                </a:lnTo>
                <a:lnTo>
                  <a:pt x="2271395" y="137181"/>
                </a:lnTo>
                <a:lnTo>
                  <a:pt x="2426970" y="118763"/>
                </a:lnTo>
                <a:lnTo>
                  <a:pt x="2584450" y="100980"/>
                </a:lnTo>
                <a:lnTo>
                  <a:pt x="2743200" y="85103"/>
                </a:lnTo>
                <a:lnTo>
                  <a:pt x="2903855" y="70496"/>
                </a:lnTo>
                <a:lnTo>
                  <a:pt x="3066415" y="56524"/>
                </a:lnTo>
                <a:lnTo>
                  <a:pt x="3230245" y="44457"/>
                </a:lnTo>
                <a:lnTo>
                  <a:pt x="3395345" y="33660"/>
                </a:lnTo>
                <a:lnTo>
                  <a:pt x="3562350" y="24134"/>
                </a:lnTo>
                <a:lnTo>
                  <a:pt x="3729990" y="16513"/>
                </a:lnTo>
                <a:lnTo>
                  <a:pt x="3899535" y="9526"/>
                </a:lnTo>
                <a:lnTo>
                  <a:pt x="4070350" y="4446"/>
                </a:lnTo>
                <a:lnTo>
                  <a:pt x="4242435" y="635"/>
                </a:lnTo>
                <a:lnTo>
                  <a:pt x="4297680" y="0"/>
                </a:lnTo>
                <a:lnTo>
                  <a:pt x="4297680" y="1516612"/>
                </a:lnTo>
                <a:cubicBezTo>
                  <a:pt x="4300855" y="1613781"/>
                  <a:pt x="4211955" y="1691898"/>
                  <a:pt x="4124960" y="1689358"/>
                </a:cubicBezTo>
                <a:lnTo>
                  <a:pt x="172720" y="1689358"/>
                </a:lnTo>
                <a:cubicBezTo>
                  <a:pt x="75565" y="1692533"/>
                  <a:pt x="-2540" y="1603620"/>
                  <a:pt x="0" y="1516612"/>
                </a:cubicBezTo>
                <a:lnTo>
                  <a:pt x="0" y="616044"/>
                </a:lnTo>
                <a:close/>
              </a:path>
            </a:pathLst>
          </a:cu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62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1129665" y="3110195"/>
            <a:ext cx="3223260" cy="126701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2072" y="3558540"/>
            <a:ext cx="2818924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33500" y="1215867"/>
            <a:ext cx="2817495" cy="10738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dashboard updates within less than 30 seconds of sensor readings, ensuring real-time monitoring and quick response.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93482" y="3558540"/>
            <a:ext cx="2818924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Reliability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94910" y="1215867"/>
            <a:ext cx="2817495" cy="10738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achieves 99.8% uptime with less than 0.2% data loss, demonstrating high reliability and minimal downtime.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EF91399-88B4-4BB8-98DE-CC44AAE68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1" y="249079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Reflection &amp; Improvements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20566" y="92916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720566" y="92916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0566" y="135207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720566" y="135207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50606" y="92916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4850606" y="92916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50606" y="135207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850606" y="135207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0566" y="285321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720566" y="285321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0566" y="327612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" name="Text 14"/>
          <p:cNvSpPr/>
          <p:nvPr/>
        </p:nvSpPr>
        <p:spPr>
          <a:xfrm>
            <a:off x="720566" y="327612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50606" y="285321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8" name="Text 16"/>
          <p:cNvSpPr/>
          <p:nvPr/>
        </p:nvSpPr>
        <p:spPr>
          <a:xfrm>
            <a:off x="4850606" y="285321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50606" y="327612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" name="Text 18"/>
          <p:cNvSpPr/>
          <p:nvPr/>
        </p:nvSpPr>
        <p:spPr>
          <a:xfrm>
            <a:off x="4850606" y="327612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4398" y="96631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104" y="1406843"/>
            <a:ext cx="3037523" cy="633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excels in robust sensor integration, accurate real-time visualization, and a reliable data pipeline for continuous monitoring.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4398" y="289036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0104" y="3330892"/>
            <a:ext cx="3037523" cy="633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Challenges include sensor calibration drift, WiFi latency, and cloud-edge synchronization delays that affect performance.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4438" y="966312"/>
            <a:ext cx="1684020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Proposed Improvements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60144" y="1406843"/>
            <a:ext cx="3037523" cy="82702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Future improvements involve machine learning for anomaly detection, multi-sensor fusion, edge computing, mobile app development, and enhanced data encryption.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4438" y="289036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0144" y="3330892"/>
            <a:ext cx="3037523" cy="633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Enhanced data encryption will be implemented to ensure HIPAA compliance and protect user privacy in healthcare applications.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A307BE1-1F7E-F82C-6BC6-1BF1AB1F0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F53010F0-176D-D489-AEF6-614104C186E4}"/>
              </a:ext>
            </a:extLst>
          </p:cNvPr>
          <p:cNvSpPr/>
          <p:nvPr/>
        </p:nvSpPr>
        <p:spPr>
          <a:xfrm>
            <a:off x="682156" y="2995448"/>
            <a:ext cx="3057832" cy="382314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C265E-267E-348F-BF10-6FEB18667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6878" y="-1007466"/>
            <a:ext cx="3694114" cy="2014931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Screenshots</a:t>
            </a:r>
            <a:endParaRPr lang="en-US" sz="2000" dirty="0"/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15F8DA-B89B-809E-CFB3-E83D536A0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1026" name="Picture 2" descr="C:\Users\RT\AppData\Local\Packages\5319275A.WhatsAppDesktop_cv1g1gvanyjgm\LocalState\sessions\BC026C01153E34C7D47869B0045E50E3E9492F7D\transfers\2025-52\PBL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56" y="894396"/>
            <a:ext cx="3057832" cy="376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RT\AppData\Local\Packages\5319275A.WhatsAppDesktop_cv1g1gvanyjgm\LocalState\sessions\BC026C01153E34C7D47869B0045E50E3E9492F7D\transfers\2025-52\PBL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455" y="894396"/>
            <a:ext cx="2910765" cy="368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569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A901-EFF9-BD80-45D6-D12B89D3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:\Users\RT\AppData\Local\Packages\5319275A.WhatsAppDesktop_cv1g1gvanyjgm\LocalState\sessions\BC026C01153E34C7D47869B0045E50E3E9492F7D\transfers\2025-52\PBL7.png">
            <a:extLst>
              <a:ext uri="{FF2B5EF4-FFF2-40B4-BE49-F238E27FC236}">
                <a16:creationId xmlns:a16="http://schemas.microsoft.com/office/drawing/2014/main" id="{E7EB3C1A-39DB-A9D1-5672-BE144E094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230" y="723675"/>
            <a:ext cx="2813995" cy="391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RT\AppData\Local\Packages\5319275A.WhatsAppDesktop_cv1g1gvanyjgm\LocalState\sessions\BC026C01153E34C7D47869B0045E50E3E9492F7D\transfers\2025-52\PBL5.png">
            <a:extLst>
              <a:ext uri="{FF2B5EF4-FFF2-40B4-BE49-F238E27FC236}">
                <a16:creationId xmlns:a16="http://schemas.microsoft.com/office/drawing/2014/main" id="{BD905B5E-78AC-42BE-7F86-DEE193F9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69" y="802762"/>
            <a:ext cx="2733368" cy="391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B9C78-57E3-F81E-E5ED-C9148FE74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9627" y="-658006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AI-Health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Assistents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BFD048-5EC4-AAC9-E556-23F1EE4B6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2050" name="Picture 2" descr="C:\Users\RT\AppData\Local\Packages\5319275A.WhatsAppDesktop_cv1g1gvanyjgm\LocalState\sessions\BC026C01153E34C7D47869B0045E50E3E9492F7D\transfers\2025-52\PBL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68" y="723675"/>
            <a:ext cx="2733368" cy="39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RT\AppData\Local\Packages\5319275A.WhatsAppDesktop_cv1g1gvanyjgm\LocalState\sessions\BC026C01153E34C7D47869B0045E50E3E9492F7D\transfers\2025-52\PBL4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70" y="723675"/>
            <a:ext cx="2851355" cy="39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F54311D7-D20C-6B52-5E43-7954335AF349}"/>
              </a:ext>
            </a:extLst>
          </p:cNvPr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3449459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80E4-73E1-8457-30B4-D1E94B87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:\Users\RT\AppData\Local\Packages\5319275A.WhatsAppDesktop_cv1g1gvanyjgm\LocalState\sessions\BC026C01153E34C7D47869B0045E50E3E9492F7D\transfers\2025-52\PBL9.png">
            <a:extLst>
              <a:ext uri="{FF2B5EF4-FFF2-40B4-BE49-F238E27FC236}">
                <a16:creationId xmlns:a16="http://schemas.microsoft.com/office/drawing/2014/main" id="{DB9943E4-A688-CEF2-0D7C-E78BB8395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32532"/>
            <a:ext cx="3063158" cy="3725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RT\AppData\Local\Packages\5319275A.WhatsAppDesktop_cv1g1gvanyjgm\LocalState\sessions\BC026C01153E34C7D47869B0045E50E3E9492F7D\transfers\2025-52\PBL8.png">
            <a:extLst>
              <a:ext uri="{FF2B5EF4-FFF2-40B4-BE49-F238E27FC236}">
                <a16:creationId xmlns:a16="http://schemas.microsoft.com/office/drawing/2014/main" id="{0A3CCFAA-3521-9528-6A53-8CF608FF0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61" y="1001567"/>
            <a:ext cx="285442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611DD-C6E5-C813-421B-B88BA600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9922" y="-346777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Temperature &amp; BPM Time Series Analysis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F9097D-DC17-5175-892A-1496EBCEB8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3074" name="Picture 2" descr="C:\Users\RT\AppData\Local\Packages\5319275A.WhatsAppDesktop_cv1g1gvanyjgm\LocalState\sessions\BC026C01153E34C7D47869B0045E50E3E9492F7D\transfers\2025-52\PBL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94" y="1004016"/>
            <a:ext cx="3004163" cy="391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RT\AppData\Local\Packages\5319275A.WhatsAppDesktop_cv1g1gvanyjgm\LocalState\sessions\BC026C01153E34C7D47869B0045E50E3E9492F7D\transfers\2025-52\PBL7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513" y="1001567"/>
            <a:ext cx="3153098" cy="391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D0603DCA-A64B-5F2F-0006-0A9007C747A8}"/>
              </a:ext>
            </a:extLst>
          </p:cNvPr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539476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A5AE-51C5-D007-7610-CFD032F1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4438C-C5DD-0BD1-7737-A19338DFE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9898" y="-256951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Statistical Distribution Comparison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24B4B0-47F6-CAC5-1950-5479EC2D8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4098" name="Picture 2" descr="C:\Users\RT\AppData\Local\Packages\5319275A.WhatsAppDesktop_cv1g1gvanyjgm\LocalState\sessions\BC026C01153E34C7D47869B0045E50E3E9492F7D\transfers\2025-52\PBL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" y="1072843"/>
            <a:ext cx="285442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RT\AppData\Local\Packages\5319275A.WhatsAppDesktop_cv1g1gvanyjgm\LocalState\sessions\BC026C01153E34C7D47869B0045E50E3E9492F7D\transfers\2025-52\PBL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998" y="1141669"/>
            <a:ext cx="3063158" cy="3725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910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1277" y="452914"/>
            <a:ext cx="7556875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 &amp; Next Steps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 rot="5400000">
            <a:off x="611982" y="182546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3430" y="1331595"/>
            <a:ext cx="2267903" cy="57150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 rot="5400000">
            <a:off x="3261837" y="152828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5400000">
            <a:off x="5911692" y="182546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73140" y="1331595"/>
            <a:ext cx="2267903" cy="57150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757" y="4337685"/>
            <a:ext cx="789146" cy="9144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690" y="137541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Conclusion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2011" y="1945006"/>
            <a:ext cx="211074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8545" y="107823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Review 3 Goals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01866" y="1647826"/>
            <a:ext cx="211074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48400" y="137541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51721" y="1945005"/>
            <a:ext cx="211074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36D7A95-ADCA-CDE5-4E44-AF2AD2B0F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9591" y="1119776"/>
            <a:ext cx="774619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Health Monitoring System successfully enables continuous tracking of vital health parameters, improving early detection of health issues. It provides accurate, real-time data that supports timely medical decisions and better patient care. The system is user-friendly, cost-effective, and suitable for both personal and clinical use. Overall, it enhances healthcare efficiency and promotes proactive health management.</a:t>
            </a:r>
            <a:endParaRPr lang="en-IN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86863" cy="5143024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66000">
                <a:srgbClr val="72C3CF"/>
              </a:gs>
              <a:gs pos="100000">
                <a:srgbClr val="72C3CF"/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86863" cy="514302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 rot="18600000">
            <a:off x="-1971675" y="1183957"/>
            <a:ext cx="4471988" cy="447198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69194" y="4404361"/>
            <a:ext cx="1109186" cy="1109186"/>
          </a:xfrm>
          <a:prstGeom prst="ellipse">
            <a:avLst/>
          </a:prstGeom>
          <a:solidFill>
            <a:srgbClr val="E4F3F7">
              <a:alpha val="90196"/>
            </a:srgbClr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7" name="Text 5"/>
          <p:cNvSpPr/>
          <p:nvPr/>
        </p:nvSpPr>
        <p:spPr>
          <a:xfrm>
            <a:off x="1169194" y="4404361"/>
            <a:ext cx="1109186" cy="110918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26154" y="1770698"/>
            <a:ext cx="3742849" cy="374284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93807" y="814865"/>
            <a:ext cx="1108710" cy="1108710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50000"/>
                </a:srgbClr>
              </a:gs>
              <a:gs pos="100000">
                <a:srgbClr val="72C3CF"/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1" name="Text 9"/>
          <p:cNvSpPr/>
          <p:nvPr/>
        </p:nvSpPr>
        <p:spPr>
          <a:xfrm>
            <a:off x="8392001" y="1183958"/>
            <a:ext cx="1108710" cy="11087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4765" y="1532097"/>
            <a:ext cx="7813834" cy="117724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96503" y="3949541"/>
            <a:ext cx="2081689" cy="34766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51973" y="3949541"/>
            <a:ext cx="2507456" cy="34766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15" name="Picture 14" descr="A thank you card with blue leaves&#10;&#10;AI-generated content may be incorrect.">
            <a:extLst>
              <a:ext uri="{FF2B5EF4-FFF2-40B4-BE49-F238E27FC236}">
                <a16:creationId xmlns:a16="http://schemas.microsoft.com/office/drawing/2014/main" id="{12567CFA-5E92-DCE5-7664-E091B0579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86862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1643</TotalTime>
  <Words>844</Words>
  <Application>Microsoft Office PowerPoint</Application>
  <PresentationFormat>On-screen Show (16:9)</PresentationFormat>
  <Paragraphs>141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Calibri</vt:lpstr>
      <vt:lpstr>Arial</vt:lpstr>
      <vt:lpstr>MiSans</vt:lpstr>
      <vt:lpstr>Times New Roman</vt:lpstr>
      <vt:lpstr>Trebuchet MS</vt:lpstr>
      <vt:lpstr>Georgia</vt:lpstr>
      <vt:lpstr>Slipstream</vt:lpstr>
      <vt:lpstr>PowerPoint Presentation</vt:lpstr>
      <vt:lpstr>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CHANDAN BELAVAGI</dc:creator>
  <cp:lastModifiedBy>atharvaark2006@gmail.com</cp:lastModifiedBy>
  <cp:revision>200</cp:revision>
  <dcterms:created xsi:type="dcterms:W3CDTF">2025-04-20T13:00:24Z</dcterms:created>
  <dcterms:modified xsi:type="dcterms:W3CDTF">2025-12-24T05:55:01Z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3675951CF7E64CB5B436BD32017E78DC_12</vt:lpwstr>
  </property>
  <property fmtid="{D5CDD505-2E9C-101B-9397-08002B2CF9AE}" pid="3" name="KSOProductBuildVer">
    <vt:lpwstr>1033-12.2.0.20795</vt:lpwstr>
  </property>
</Properties>
</file>