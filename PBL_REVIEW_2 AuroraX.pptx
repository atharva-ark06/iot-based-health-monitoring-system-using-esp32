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44" r:id="rId3"/>
    <p:sldId id="257" r:id="rId4"/>
    <p:sldId id="260" r:id="rId5"/>
    <p:sldId id="342" r:id="rId6"/>
    <p:sldId id="264" r:id="rId7"/>
    <p:sldId id="266" r:id="rId8"/>
    <p:sldId id="268" r:id="rId9"/>
    <p:sldId id="343" r:id="rId10"/>
    <p:sldId id="272" r:id="rId11"/>
    <p:sldId id="276" r:id="rId12"/>
    <p:sldId id="345" r:id="rId13"/>
    <p:sldId id="346" r:id="rId14"/>
    <p:sldId id="347" r:id="rId15"/>
    <p:sldId id="348" r:id="rId16"/>
    <p:sldId id="270" r:id="rId1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MiSans" panose="020B0604020202020204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9AA0A6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22FF0-F880-488B-9BF8-728A4A840C15}" v="24" dt="2025-11-25T14:56:58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AB2216-43B3-495F-923B-072949DA2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20" y="77"/>
      </p:cViewPr>
      <p:guideLst>
        <p:guide orient="horz" pos="6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B7FAC-5808-40CF-954C-B4374A693A2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A69E6B3-A447-4063-9ACD-4BCC37C9B3AF}">
      <dgm:prSet phldrT="[Text]"/>
      <dgm:spPr/>
      <dgm:t>
        <a:bodyPr/>
        <a:lstStyle/>
        <a:p>
          <a:endParaRPr lang="en-IN" dirty="0"/>
        </a:p>
      </dgm:t>
    </dgm:pt>
    <dgm:pt modelId="{9882F7A7-5195-40BA-91B0-6DE78919410A}" type="parTrans" cxnId="{5FE9352D-A61A-4FF8-BA9F-14C75BD39F5F}">
      <dgm:prSet/>
      <dgm:spPr/>
      <dgm:t>
        <a:bodyPr/>
        <a:lstStyle/>
        <a:p>
          <a:endParaRPr lang="en-IN"/>
        </a:p>
      </dgm:t>
    </dgm:pt>
    <dgm:pt modelId="{7D978D8E-BD3D-4FE0-956B-E4A5481BC222}" type="sibTrans" cxnId="{5FE9352D-A61A-4FF8-BA9F-14C75BD39F5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  <dgm:t>
        <a:bodyPr/>
        <a:lstStyle/>
        <a:p>
          <a:endParaRPr lang="en-IN"/>
        </a:p>
      </dgm:t>
    </dgm:pt>
    <dgm:pt modelId="{454A28D4-E5C3-4056-BD20-BA52A1390445}" type="pres">
      <dgm:prSet presAssocID="{C48B7FAC-5808-40CF-954C-B4374A693A23}" presName="Name0" presStyleCnt="0">
        <dgm:presLayoutVars>
          <dgm:chMax val="7"/>
          <dgm:chPref val="7"/>
          <dgm:dir/>
        </dgm:presLayoutVars>
      </dgm:prSet>
      <dgm:spPr/>
    </dgm:pt>
    <dgm:pt modelId="{3E40D516-C2BB-432D-9497-6EF6A3764306}" type="pres">
      <dgm:prSet presAssocID="{C48B7FAC-5808-40CF-954C-B4374A693A23}" presName="Name1" presStyleCnt="0"/>
      <dgm:spPr/>
    </dgm:pt>
    <dgm:pt modelId="{3197E87E-DAD9-4CB2-8F6E-C0CE5FF86B58}" type="pres">
      <dgm:prSet presAssocID="{7D978D8E-BD3D-4FE0-956B-E4A5481BC222}" presName="picture_1" presStyleCnt="0"/>
      <dgm:spPr/>
    </dgm:pt>
    <dgm:pt modelId="{5F2D48C4-5B7B-4E03-9BC9-654B205B0C2B}" type="pres">
      <dgm:prSet presAssocID="{7D978D8E-BD3D-4FE0-956B-E4A5481BC222}" presName="pictureRepeatNode" presStyleLbl="alignImgPlace1" presStyleIdx="0" presStyleCnt="1" custScaleX="200000" custScaleY="207685" custLinFactNeighborX="-22276" custLinFactNeighborY="-19070"/>
      <dgm:spPr/>
    </dgm:pt>
    <dgm:pt modelId="{EE810434-AF97-437D-BE35-ADF6B0A2787D}" type="pres">
      <dgm:prSet presAssocID="{DA69E6B3-A447-4063-9ACD-4BCC37C9B3AF}" presName="text_1" presStyleLbl="node1" presStyleIdx="0" presStyleCnt="0">
        <dgm:presLayoutVars>
          <dgm:bulletEnabled val="1"/>
        </dgm:presLayoutVars>
      </dgm:prSet>
      <dgm:spPr/>
    </dgm:pt>
  </dgm:ptLst>
  <dgm:cxnLst>
    <dgm:cxn modelId="{2C6E1F19-DCA7-4D76-8354-57CF4C95C386}" type="presOf" srcId="{DA69E6B3-A447-4063-9ACD-4BCC37C9B3AF}" destId="{EE810434-AF97-437D-BE35-ADF6B0A2787D}" srcOrd="0" destOrd="0" presId="urn:microsoft.com/office/officeart/2008/layout/CircularPictureCallout"/>
    <dgm:cxn modelId="{5FE9352D-A61A-4FF8-BA9F-14C75BD39F5F}" srcId="{C48B7FAC-5808-40CF-954C-B4374A693A23}" destId="{DA69E6B3-A447-4063-9ACD-4BCC37C9B3AF}" srcOrd="0" destOrd="0" parTransId="{9882F7A7-5195-40BA-91B0-6DE78919410A}" sibTransId="{7D978D8E-BD3D-4FE0-956B-E4A5481BC222}"/>
    <dgm:cxn modelId="{7F8DB682-67E2-4C10-AC83-03843EF79B92}" type="presOf" srcId="{C48B7FAC-5808-40CF-954C-B4374A693A23}" destId="{454A28D4-E5C3-4056-BD20-BA52A1390445}" srcOrd="0" destOrd="0" presId="urn:microsoft.com/office/officeart/2008/layout/CircularPictureCallout"/>
    <dgm:cxn modelId="{4513669D-5A7C-4FCF-A744-00316D57CD50}" type="presOf" srcId="{7D978D8E-BD3D-4FE0-956B-E4A5481BC222}" destId="{5F2D48C4-5B7B-4E03-9BC9-654B205B0C2B}" srcOrd="0" destOrd="0" presId="urn:microsoft.com/office/officeart/2008/layout/CircularPictureCallout"/>
    <dgm:cxn modelId="{F01C03AA-513C-4A8C-AD37-EB5E0CA38E93}" type="presParOf" srcId="{454A28D4-E5C3-4056-BD20-BA52A1390445}" destId="{3E40D516-C2BB-432D-9497-6EF6A3764306}" srcOrd="0" destOrd="0" presId="urn:microsoft.com/office/officeart/2008/layout/CircularPictureCallout"/>
    <dgm:cxn modelId="{1713E193-70FC-454F-9735-9E24A70644E7}" type="presParOf" srcId="{3E40D516-C2BB-432D-9497-6EF6A3764306}" destId="{3197E87E-DAD9-4CB2-8F6E-C0CE5FF86B58}" srcOrd="0" destOrd="0" presId="urn:microsoft.com/office/officeart/2008/layout/CircularPictureCallout"/>
    <dgm:cxn modelId="{06056DE8-CFA4-4033-B0D9-D2AD9ED197D4}" type="presParOf" srcId="{3197E87E-DAD9-4CB2-8F6E-C0CE5FF86B58}" destId="{5F2D48C4-5B7B-4E03-9BC9-654B205B0C2B}" srcOrd="0" destOrd="0" presId="urn:microsoft.com/office/officeart/2008/layout/CircularPictureCallout"/>
    <dgm:cxn modelId="{1A04983B-9BC3-4437-AD39-DD473DFF9094}" type="presParOf" srcId="{3E40D516-C2BB-432D-9497-6EF6A3764306}" destId="{EE810434-AF97-437D-BE35-ADF6B0A2787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D48C4-5B7B-4E03-9BC9-654B205B0C2B}">
      <dsp:nvSpPr>
        <dsp:cNvPr id="0" name=""/>
        <dsp:cNvSpPr/>
      </dsp:nvSpPr>
      <dsp:spPr>
        <a:xfrm>
          <a:off x="0" y="-189477"/>
          <a:ext cx="1133475" cy="11770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10434-AF97-437D-BE35-ADF6B0A2787D}">
      <dsp:nvSpPr>
        <dsp:cNvPr id="0" name=""/>
        <dsp:cNvSpPr/>
      </dsp:nvSpPr>
      <dsp:spPr>
        <a:xfrm>
          <a:off x="385381" y="416605"/>
          <a:ext cx="362712" cy="18702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385381" y="416605"/>
        <a:ext cx="362712" cy="187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7666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a31a2570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3" name="Google Shape;213;g9a31a2570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5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8E80666-FB37-4B36-9149-507F3B0178E3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12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129" y="61937"/>
            <a:ext cx="8676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M University, Davanagere.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CS-Cyber Security &amp;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CS-Information Security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382" y="1442901"/>
            <a:ext cx="8483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on</a:t>
            </a:r>
          </a:p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System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619" y="407635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Project Guide:</a:t>
            </a:r>
          </a:p>
          <a:p>
            <a:r>
              <a:rPr lang="en-IN" b="1" dirty="0"/>
              <a:t>   Mrs .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Assistant Professor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240777" y="4067258"/>
            <a:ext cx="2648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Head of the Department:      </a:t>
            </a:r>
            <a:r>
              <a:rPr lang="en-IN" b="1" dirty="0"/>
              <a:t>           Dr. Aruna Kumar B T</a:t>
            </a:r>
          </a:p>
          <a:p>
            <a:r>
              <a:rPr lang="en-IN" dirty="0"/>
              <a:t>     Assistant Professor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7965" y="2257324"/>
            <a:ext cx="385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Presented By:</a:t>
            </a:r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Kulkarni  Atharva          U24E01IY036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Naveen D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Nikhil Suthar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Pavan Kumar V M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U24E01CY095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Ujjwal Kumar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U24E01IY076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AEEAA-05B4-7F58-AC54-23D68049E8CD}"/>
              </a:ext>
            </a:extLst>
          </p:cNvPr>
          <p:cNvSpPr txBox="1"/>
          <p:nvPr/>
        </p:nvSpPr>
        <p:spPr>
          <a:xfrm>
            <a:off x="3467364" y="409540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Project Coordinator:</a:t>
            </a:r>
          </a:p>
          <a:p>
            <a:r>
              <a:rPr lang="en-IN" b="1" dirty="0"/>
              <a:t>      Mrs. 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   Assistant Professor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30DBE-835F-B3CF-1941-B4509FCCC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7" y="-1"/>
            <a:ext cx="1053833" cy="10538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203" y="679416"/>
            <a:ext cx="6987940" cy="717900"/>
          </a:xfrm>
        </p:spPr>
        <p:txBody>
          <a:bodyPr>
            <a:normAutofit fontScale="90000"/>
          </a:bodyPr>
          <a:lstStyle/>
          <a:p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endParaRPr lang="en-GB" sz="1500" b="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411682" y="2321149"/>
            <a:ext cx="1703438" cy="307777"/>
          </a:xfrm>
        </p:spPr>
        <p:txBody>
          <a:bodyPr>
            <a:normAutofit fontScale="92500" lnSpcReduction="10000"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3640" y="1424179"/>
            <a:ext cx="454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b="1" dirty="0"/>
              <a:t>Nayana M R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" y="4426026"/>
            <a:ext cx="316403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Naveen N D                        Kulkarni Atharva </a:t>
            </a:r>
          </a:p>
          <a:p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1682" y="4417834"/>
            <a:ext cx="580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Ujjwal Kumar                                                                                           Pawan Kumar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347" y="4495859"/>
            <a:ext cx="974947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Nikhil Suthar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1941856" y="325333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9E8A92-B6AA-7A4A-9AA6-F064CF094B14}"/>
              </a:ext>
            </a:extLst>
          </p:cNvPr>
          <p:cNvSpPr/>
          <p:nvPr/>
        </p:nvSpPr>
        <p:spPr>
          <a:xfrm>
            <a:off x="3843010" y="321811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5805489" y="321811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0C0B27-809A-4672-2FD9-D04A4D7ACDCE}"/>
              </a:ext>
            </a:extLst>
          </p:cNvPr>
          <p:cNvSpPr/>
          <p:nvPr/>
        </p:nvSpPr>
        <p:spPr>
          <a:xfrm>
            <a:off x="3892556" y="268523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332131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7664283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401" y="-322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1" y="120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1" y="2725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1" y="424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62001" y="5773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14401" y="7297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3405738"/>
          <a:ext cx="1133475" cy="798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 descr="A person with a mustache and curly hair&#10;&#10;AI-generated content may be incorrect.">
            <a:extLst>
              <a:ext uri="{FF2B5EF4-FFF2-40B4-BE49-F238E27FC236}">
                <a16:creationId xmlns:a16="http://schemas.microsoft.com/office/drawing/2014/main" id="{9163F7AD-DA06-0787-E759-00873DCCD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45" y="3218116"/>
            <a:ext cx="1004664" cy="1055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Picture 24" descr="A person with a mustache wearing a white shirt&#10;&#10;AI-generated content may be incorrect.">
            <a:extLst>
              <a:ext uri="{FF2B5EF4-FFF2-40B4-BE49-F238E27FC236}">
                <a16:creationId xmlns:a16="http://schemas.microsoft.com/office/drawing/2014/main" id="{9580D11B-C3F1-0959-2084-3A5B31347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3010" y="3182670"/>
            <a:ext cx="1004665" cy="10464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551C9409-0E1C-E221-C85F-59CB45BB9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489" y="3169391"/>
            <a:ext cx="1004665" cy="9933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descr="A person in a blue shirt&#10;&#10;AI-generated content may be incorrect.">
            <a:extLst>
              <a:ext uri="{FF2B5EF4-FFF2-40B4-BE49-F238E27FC236}">
                <a16:creationId xmlns:a16="http://schemas.microsoft.com/office/drawing/2014/main" id="{25F4666F-5C3E-891A-3B1B-3D64F6CDB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283" y="3229861"/>
            <a:ext cx="1004665" cy="10809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F812E-BC39-B9FD-F18B-CF02622B7E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8" y="0"/>
            <a:ext cx="1053833" cy="10538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1BC39E-A646-8A5A-6596-B81BA92DB0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08"/>
            <a:ext cx="1554364" cy="1662973"/>
          </a:xfrm>
          <a:prstGeom prst="rect">
            <a:avLst/>
          </a:prstGeom>
        </p:spPr>
      </p:pic>
      <p:sp>
        <p:nvSpPr>
          <p:cNvPr id="28" name="Shape 9">
            <a:extLst>
              <a:ext uri="{FF2B5EF4-FFF2-40B4-BE49-F238E27FC236}">
                <a16:creationId xmlns:a16="http://schemas.microsoft.com/office/drawing/2014/main" id="{FCEABB9D-DE0C-5948-6A1A-09823503715C}"/>
              </a:ext>
            </a:extLst>
          </p:cNvPr>
          <p:cNvSpPr/>
          <p:nvPr/>
        </p:nvSpPr>
        <p:spPr>
          <a:xfrm>
            <a:off x="8755159" y="4022259"/>
            <a:ext cx="1361531" cy="1361531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61532E-C1ED-F7CD-4146-448AFAA9A7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60651" y="4697489"/>
            <a:ext cx="672143" cy="67214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5-d2r90v9e3tpg8rchuqd0.png"/>
          <p:cNvPicPr>
            <a:picLocks noChangeAspect="1"/>
          </p:cNvPicPr>
          <p:nvPr/>
        </p:nvPicPr>
        <p:blipFill>
          <a:blip r:embed="rId3"/>
          <a:srcRect l="3322" r="3322"/>
          <a:stretch/>
        </p:blipFill>
        <p:spPr>
          <a:xfrm>
            <a:off x="0" y="0"/>
            <a:ext cx="9156383" cy="5161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28236" y="1735932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4" name="Shape 1"/>
          <p:cNvSpPr/>
          <p:nvPr/>
        </p:nvSpPr>
        <p:spPr>
          <a:xfrm flipH="1">
            <a:off x="1128236" y="2202181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5" name="Shape 2"/>
          <p:cNvSpPr/>
          <p:nvPr/>
        </p:nvSpPr>
        <p:spPr>
          <a:xfrm flipH="1">
            <a:off x="1128236" y="2668429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Shape 3"/>
          <p:cNvSpPr/>
          <p:nvPr/>
        </p:nvSpPr>
        <p:spPr>
          <a:xfrm flipH="1">
            <a:off x="1128236" y="3134678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7" name="Shape 4"/>
          <p:cNvSpPr/>
          <p:nvPr/>
        </p:nvSpPr>
        <p:spPr>
          <a:xfrm flipH="1">
            <a:off x="1128236" y="3600927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5"/>
          <p:cNvSpPr/>
          <p:nvPr/>
        </p:nvSpPr>
        <p:spPr>
          <a:xfrm flipH="1">
            <a:off x="1128236" y="4067176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628650" y="976312"/>
            <a:ext cx="347186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571" y="1693069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9672" y="1734503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NTRODUCTION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9571" y="2159318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9672" y="2200752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571" y="2625567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9672" y="2667000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9571" y="3091815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9672" y="313324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9571" y="3558064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79672" y="3599498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571" y="4024313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79672" y="407050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B9471D-6CCA-C2F5-FF81-D405FDE80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7-d2r90vpe3tpg8rchuqi0.jpg"/>
          <p:cNvPicPr>
            <a:picLocks noChangeAspect="1"/>
          </p:cNvPicPr>
          <p:nvPr/>
        </p:nvPicPr>
        <p:blipFill>
          <a:blip r:embed="rId3"/>
          <a:srcRect l="44049" r="21872"/>
          <a:stretch/>
        </p:blipFill>
        <p:spPr>
          <a:xfrm>
            <a:off x="0" y="0"/>
            <a:ext cx="3542824" cy="5145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800" y="1131570"/>
            <a:ext cx="2651760" cy="341757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3"/>
          <p:cNvSpPr/>
          <p:nvPr/>
        </p:nvSpPr>
        <p:spPr>
          <a:xfrm>
            <a:off x="304800" y="1131570"/>
            <a:ext cx="2651760" cy="341757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3840" y="239554"/>
            <a:ext cx="3108008" cy="7155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 &amp; Goals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6244" y="1940719"/>
            <a:ext cx="2384108" cy="0"/>
          </a:xfrm>
          <a:prstGeom prst="line">
            <a:avLst/>
          </a:prstGeom>
          <a:noFill/>
          <a:ln w="3175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Shape 6"/>
          <p:cNvSpPr/>
          <p:nvPr/>
        </p:nvSpPr>
        <p:spPr>
          <a:xfrm>
            <a:off x="426244" y="1874044"/>
            <a:ext cx="2384108" cy="0"/>
          </a:xfrm>
          <a:prstGeom prst="line">
            <a:avLst/>
          </a:prstGeom>
          <a:noFill/>
          <a:ln w="1270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7"/>
          <p:cNvSpPr/>
          <p:nvPr/>
        </p:nvSpPr>
        <p:spPr>
          <a:xfrm>
            <a:off x="3750469" y="92535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750469" y="92535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rot="5400000">
            <a:off x="3951923" y="104632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3" name="Text 10"/>
          <p:cNvSpPr/>
          <p:nvPr/>
        </p:nvSpPr>
        <p:spPr>
          <a:xfrm rot="5400000">
            <a:off x="3951923" y="104632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50469" y="278082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2"/>
          <p:cNvSpPr/>
          <p:nvPr/>
        </p:nvSpPr>
        <p:spPr>
          <a:xfrm>
            <a:off x="3750469" y="278082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951923" y="290179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7" name="Text 14"/>
          <p:cNvSpPr/>
          <p:nvPr/>
        </p:nvSpPr>
        <p:spPr>
          <a:xfrm rot="5400000">
            <a:off x="3951923" y="290179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6244" y="1309688"/>
            <a:ext cx="2384108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6720" y="1996441"/>
            <a:ext cx="2386965" cy="154279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This project aims to develop a real-time health monitoring system using IoT sensors to track temperature and heart rate (BPM).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89572" y="102203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Review 2 Focus Areas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72389" y="1279684"/>
            <a:ext cx="4429125" cy="81528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focus of Review 2 includes sensor accuracy, data handling efficiency, protocol evaluation, and performance metrics to ensure system reliability.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89572" y="287750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Key Deliverable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72389" y="3135154"/>
            <a:ext cx="4429125" cy="81528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key deliverable is a functional health dashboard that provides real-time data analysis and insights for continuous health monitoring.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73DE63-03BC-4855-B9A0-3F737E89C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 Data Acquisition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11766" y="-10478"/>
            <a:ext cx="2640330" cy="51539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6511766" y="-10478"/>
            <a:ext cx="2640330" cy="515397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6267" y="137541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06267" y="137541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4860" y="154114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84860" y="154114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67" y="305943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606267" y="305943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860" y="322516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784860" y="322516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7258" y="173783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3104" y="158400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3104" y="1847850"/>
            <a:ext cx="5084445" cy="52443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uses DHT22 for temperature (±0.5°C) and MAX30102 for heart rate (±5 BPM) to ensure accurate health monitoring.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7258" y="342185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73104" y="326802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73104" y="3531870"/>
            <a:ext cx="5084445" cy="76450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undergoes digital filtering, outlier detection, and moving average smoothing to ensure high-quality, noise-free readings for reliable analysis.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02BCD6-FE35-4A56-2F00-C0830B66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Structuring &amp; Cleaning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3810" y="4149567"/>
            <a:ext cx="9155430" cy="99393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-3810" y="4149567"/>
            <a:ext cx="9155430" cy="99393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H="1">
            <a:off x="47434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434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34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7434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434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434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252031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252031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2031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252031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2031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252031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56628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56628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628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2" name="Text 20"/>
          <p:cNvSpPr/>
          <p:nvPr/>
        </p:nvSpPr>
        <p:spPr>
          <a:xfrm>
            <a:off x="456628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628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456628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661225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 24"/>
          <p:cNvSpPr/>
          <p:nvPr/>
        </p:nvSpPr>
        <p:spPr>
          <a:xfrm>
            <a:off x="661225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225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61225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225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Text 28"/>
          <p:cNvSpPr/>
          <p:nvPr/>
        </p:nvSpPr>
        <p:spPr>
          <a:xfrm>
            <a:off x="661225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93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649" y="2344579"/>
            <a:ext cx="1632109" cy="185518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Median filtering is applied to eliminate sensor spikes and erratic readings, ensuring clean data for analysis.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7890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64619" y="2344579"/>
            <a:ext cx="1632109" cy="159665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normalized to a 0-100 scale for consistent analysis across different sensors and metrics.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2487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Organization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24876" y="2249683"/>
            <a:ext cx="1632109" cy="21137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organized in JSON/CSV format with timestamp, sensor ID, and value fields for efficient storage and querying.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7084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56559" y="2260965"/>
            <a:ext cx="1632109" cy="21137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includes null value detection, failed reading management, and automatic retries to handle data acquisition errors.</a:t>
            </a:r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1C81ABE-1210-0DC8-81CB-387A82601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Protocols Evaluated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1465421" y="4005739"/>
            <a:ext cx="371475" cy="368141"/>
          </a:xfrm>
          <a:prstGeom prst="ellipse">
            <a:avLst/>
          </a:prstGeom>
          <a:gradFill flip="none" rotWithShape="1">
            <a:gsLst>
              <a:gs pos="0">
                <a:srgbClr val="92D050"/>
              </a:gs>
              <a:gs pos="29000">
                <a:srgbClr val="92D050"/>
              </a:gs>
              <a:gs pos="100000">
                <a:srgbClr val="FFFF00"/>
              </a:gs>
            </a:gsLst>
            <a:lin ang="108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1465421" y="4005739"/>
            <a:ext cx="371475" cy="368141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7228" y="1236821"/>
            <a:ext cx="7766209" cy="3400425"/>
          </a:xfrm>
          <a:prstGeom prst="roundRect">
            <a:avLst>
              <a:gd name="adj" fmla="val 8217"/>
            </a:avLst>
          </a:prstGeom>
          <a:solidFill>
            <a:srgbClr val="FFFFFF"/>
          </a:solidFill>
          <a:ln w="12700">
            <a:gradFill flip="none" rotWithShape="1">
              <a:gsLst>
                <a:gs pos="0">
                  <a:srgbClr val="49B2FE"/>
                </a:gs>
                <a:gs pos="100000">
                  <a:srgbClr val="95D7F9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77228" y="1236821"/>
            <a:ext cx="7766209" cy="34004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82028" y="2174558"/>
            <a:ext cx="3645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955358" y="1768316"/>
            <a:ext cx="3695700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49B2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Selection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2027" y="2295049"/>
            <a:ext cx="3706178" cy="115179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MQTT was selected for its low-bandwidth, pub-sub efficiency, ensuring reliable and efficient data transmission from sensors to the dashboard.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03FEF-AF54-54EF-8448-6C15EA77F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7" name="Image 0" descr="https://kimi-img.moonshot.cn/pub/slides/slides_tmpl/image/25-09-02-14:36:45-d2r90v9e3tpg8rchuqfg.png">
            <a:extLst>
              <a:ext uri="{FF2B5EF4-FFF2-40B4-BE49-F238E27FC236}">
                <a16:creationId xmlns:a16="http://schemas.microsoft.com/office/drawing/2014/main" id="{2E936007-E511-C9BC-6ACF-6CF0B0410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88" y="983693"/>
            <a:ext cx="3232784" cy="3906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751047" y="1262539"/>
            <a:ext cx="1843564" cy="292179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 rot="21000000">
            <a:off x="751047" y="1262539"/>
            <a:ext cx="1843564" cy="292179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5-d2r90v9e3tpg8rchuq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3" y="1413034"/>
            <a:ext cx="2011680" cy="2930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Interpretation &amp; Validation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4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716" y="118110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3063716" y="118110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2310" y="134683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242310" y="134683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4708" y="154352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63716" y="275082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1"/>
          <p:cNvSpPr/>
          <p:nvPr/>
        </p:nvSpPr>
        <p:spPr>
          <a:xfrm>
            <a:off x="3063716" y="275082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2310" y="291655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3"/>
          <p:cNvSpPr/>
          <p:nvPr/>
        </p:nvSpPr>
        <p:spPr>
          <a:xfrm>
            <a:off x="3242310" y="291655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74708" y="311324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5844" y="1703546"/>
            <a:ext cx="1604228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 Trends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5844" y="2195989"/>
            <a:ext cx="1632109" cy="160011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Temperature remains stable between 26.6-27.2°C, and BPM ranges from 60-80 bpm, aligning with normal physiological patterns.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30554" y="129349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Dashboard Accuracy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0554" y="1557337"/>
            <a:ext cx="4067651" cy="7137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accurately visualizes time-series graphs, showing consistent and reliable data for real-time health monitoring.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430554" y="286321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30554" y="3127057"/>
            <a:ext cx="4067651" cy="492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Multiple readings were validated, confirming no major discrepancies and ensuring data integrity and accuracy.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3C39FA-9D28-70B2-BF0A-DC619FA47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Performance Metrics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966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112966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9107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9107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-2857" y="3108484"/>
            <a:ext cx="9154954" cy="2035016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-2857" y="3108484"/>
            <a:ext cx="9154954" cy="203501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07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0"/>
                </a:moveTo>
                <a:lnTo>
                  <a:pt x="55245" y="635"/>
                </a:lnTo>
                <a:lnTo>
                  <a:pt x="227330" y="4446"/>
                </a:lnTo>
                <a:lnTo>
                  <a:pt x="398145" y="9526"/>
                </a:lnTo>
                <a:lnTo>
                  <a:pt x="567690" y="16513"/>
                </a:lnTo>
                <a:lnTo>
                  <a:pt x="735330" y="24134"/>
                </a:lnTo>
                <a:lnTo>
                  <a:pt x="902335" y="33660"/>
                </a:lnTo>
                <a:lnTo>
                  <a:pt x="1067435" y="44457"/>
                </a:lnTo>
                <a:lnTo>
                  <a:pt x="1231265" y="56524"/>
                </a:lnTo>
                <a:lnTo>
                  <a:pt x="1393825" y="70496"/>
                </a:lnTo>
                <a:lnTo>
                  <a:pt x="1554480" y="85103"/>
                </a:lnTo>
                <a:lnTo>
                  <a:pt x="1713230" y="100980"/>
                </a:lnTo>
                <a:lnTo>
                  <a:pt x="1870710" y="118763"/>
                </a:lnTo>
                <a:lnTo>
                  <a:pt x="2026285" y="137181"/>
                </a:lnTo>
                <a:lnTo>
                  <a:pt x="2179955" y="157504"/>
                </a:lnTo>
                <a:lnTo>
                  <a:pt x="2332355" y="178462"/>
                </a:lnTo>
                <a:lnTo>
                  <a:pt x="2482215" y="201326"/>
                </a:lnTo>
                <a:lnTo>
                  <a:pt x="2630170" y="224824"/>
                </a:lnTo>
                <a:lnTo>
                  <a:pt x="2776220" y="249593"/>
                </a:lnTo>
                <a:lnTo>
                  <a:pt x="2919730" y="275632"/>
                </a:lnTo>
                <a:lnTo>
                  <a:pt x="3061335" y="302941"/>
                </a:lnTo>
                <a:lnTo>
                  <a:pt x="3201035" y="330886"/>
                </a:lnTo>
                <a:lnTo>
                  <a:pt x="3338195" y="360100"/>
                </a:lnTo>
                <a:lnTo>
                  <a:pt x="3473450" y="390585"/>
                </a:lnTo>
                <a:lnTo>
                  <a:pt x="3606165" y="422340"/>
                </a:lnTo>
                <a:cubicBezTo>
                  <a:pt x="3863975" y="480768"/>
                  <a:pt x="4330065" y="623665"/>
                  <a:pt x="4297680" y="616044"/>
                </a:cubicBez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9107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966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616044"/>
                </a:moveTo>
                <a:cubicBezTo>
                  <a:pt x="112395" y="574763"/>
                  <a:pt x="655320" y="425515"/>
                  <a:pt x="691515" y="422340"/>
                </a:cubicBezTo>
                <a:lnTo>
                  <a:pt x="824230" y="390585"/>
                </a:lnTo>
                <a:lnTo>
                  <a:pt x="959485" y="360100"/>
                </a:lnTo>
                <a:lnTo>
                  <a:pt x="1096645" y="330886"/>
                </a:lnTo>
                <a:lnTo>
                  <a:pt x="1236345" y="302941"/>
                </a:lnTo>
                <a:lnTo>
                  <a:pt x="1377950" y="275632"/>
                </a:lnTo>
                <a:lnTo>
                  <a:pt x="1521460" y="249593"/>
                </a:lnTo>
                <a:lnTo>
                  <a:pt x="1667510" y="224824"/>
                </a:lnTo>
                <a:lnTo>
                  <a:pt x="1815465" y="201326"/>
                </a:lnTo>
                <a:lnTo>
                  <a:pt x="1965325" y="178462"/>
                </a:lnTo>
                <a:lnTo>
                  <a:pt x="2117725" y="157504"/>
                </a:lnTo>
                <a:lnTo>
                  <a:pt x="2271395" y="137181"/>
                </a:lnTo>
                <a:lnTo>
                  <a:pt x="2426970" y="118763"/>
                </a:lnTo>
                <a:lnTo>
                  <a:pt x="2584450" y="100980"/>
                </a:lnTo>
                <a:lnTo>
                  <a:pt x="2743200" y="85103"/>
                </a:lnTo>
                <a:lnTo>
                  <a:pt x="2903855" y="70496"/>
                </a:lnTo>
                <a:lnTo>
                  <a:pt x="3066415" y="56524"/>
                </a:lnTo>
                <a:lnTo>
                  <a:pt x="3230245" y="44457"/>
                </a:lnTo>
                <a:lnTo>
                  <a:pt x="3395345" y="33660"/>
                </a:lnTo>
                <a:lnTo>
                  <a:pt x="3562350" y="24134"/>
                </a:lnTo>
                <a:lnTo>
                  <a:pt x="3729990" y="16513"/>
                </a:lnTo>
                <a:lnTo>
                  <a:pt x="3899535" y="9526"/>
                </a:lnTo>
                <a:lnTo>
                  <a:pt x="4070350" y="4446"/>
                </a:lnTo>
                <a:lnTo>
                  <a:pt x="4242435" y="635"/>
                </a:lnTo>
                <a:lnTo>
                  <a:pt x="4297680" y="0"/>
                </a:ln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616044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112966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207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1215867"/>
            <a:ext cx="2817495" cy="124117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updates within less than 30 seconds of sensor readings, ensuring real-time monitoring and quick response.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348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Reliability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4910" y="1215867"/>
            <a:ext cx="2817495" cy="1241174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achieves 99.8% uptime with less than 0.2% data loss, demonstrating high reliability and minimal downtime.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F91399-88B4-4BB8-98DE-CC44AAE6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Reflection &amp; Improvements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056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72056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056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2056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5060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85060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5060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85060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056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72056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056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72056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060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485060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5060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85060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4398" y="96631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104" y="1406843"/>
            <a:ext cx="3037523" cy="9353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excels in robust sensor integration, accurate real-time visualization, and a reliable data pipeline for continuous monitoring.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439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104" y="3330892"/>
            <a:ext cx="3037523" cy="9353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Challenges include sensor calibration drift, WiFi latency, and cloud-edge synchronization delays that affect performance.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4438" y="966312"/>
            <a:ext cx="1684020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Proposed Improvements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0144" y="1406843"/>
            <a:ext cx="3037523" cy="11569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Future improvements involve machine learning for anomaly detection, multi-sensor fusion, edge computing, mobile app development, and enhanced data encryption.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443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0144" y="3330892"/>
            <a:ext cx="3037523" cy="9353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Enhanced data encryption will be implemented to ensure HIPAA compliance and protect user privacy in healthcare applications.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307BE1-1F7E-F82C-6BC6-1BF1AB1F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5400000">
            <a:off x="611982" y="1825467"/>
            <a:ext cx="2591276" cy="2217896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 rot="5400000">
            <a:off x="61198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3430" y="1331595"/>
            <a:ext cx="2267903" cy="571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7343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13047" y="4337685"/>
            <a:ext cx="789146" cy="91440"/>
          </a:xfrm>
          <a:prstGeom prst="ellipse">
            <a:avLst/>
          </a:prstGeom>
          <a:solidFill>
            <a:srgbClr val="49B2FE">
              <a:alpha val="65098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1513047" y="433768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3261837" y="1528287"/>
            <a:ext cx="2591276" cy="2217896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 rot="5400000">
            <a:off x="3261837" y="152828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3285" y="1034415"/>
            <a:ext cx="2267903" cy="571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3423285" y="103441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2902" y="4040505"/>
            <a:ext cx="789146" cy="91440"/>
          </a:xfrm>
          <a:prstGeom prst="ellipse">
            <a:avLst/>
          </a:prstGeom>
          <a:solidFill>
            <a:srgbClr val="49B2FE">
              <a:alpha val="65098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4162902" y="404050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11692" y="1825467"/>
            <a:ext cx="2591276" cy="2217896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 rot="5400000">
            <a:off x="591169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3140" y="1331595"/>
            <a:ext cx="2267903" cy="571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607314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757" y="4337685"/>
            <a:ext cx="789146" cy="91440"/>
          </a:xfrm>
          <a:prstGeom prst="ellipse">
            <a:avLst/>
          </a:prstGeom>
          <a:solidFill>
            <a:srgbClr val="49B2FE">
              <a:alpha val="65098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2" name="Text 20"/>
          <p:cNvSpPr/>
          <p:nvPr/>
        </p:nvSpPr>
        <p:spPr>
          <a:xfrm>
            <a:off x="6812757" y="433768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69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011" y="1945006"/>
            <a:ext cx="2110740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successfully monitors health metrics in real-time, with validated data integrity and minimal latency, proving its feasibility for practical use.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8545" y="107823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3 Goals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1866" y="1647826"/>
            <a:ext cx="2110740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Future goals include AI-based anomaly detection, multi-sensor integration, mobile app deployment, and clinical-grade validation for enhanced functionality.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840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1721" y="1945005"/>
            <a:ext cx="2110740" cy="99257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Thank you for reviewing our project. We look forward to your feedback and questions. Contact us for further information.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6D7A95-ADCA-CDE5-4E44-AF2AD2B0F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A93537-4DF7-CF42-09B8-72F411E7FA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5" r="745"/>
          <a:stretch>
            <a:fillRect/>
          </a:stretch>
        </p:blipFill>
        <p:spPr>
          <a:xfrm>
            <a:off x="2874395" y="572954"/>
            <a:ext cx="5426713" cy="364943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265E-267E-348F-BF10-6FEB18667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1072" y="235350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Screenshots</a:t>
            </a:r>
            <a:endParaRPr lang="en-US" sz="2000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15F8DA-B89B-809E-CFB3-E83D536A0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6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A901-EFF9-BD80-45D6-D12B89D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9C78-57E3-F81E-E5ED-C9148FE74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1072" y="235350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Correlation Analysis: Temperature vs BPM</a:t>
            </a:r>
          </a:p>
          <a:p>
            <a:endParaRPr lang="en-IN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7E4D49-DA1F-AEB8-FEB0-C40FD842F0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5" r="745"/>
          <a:stretch>
            <a:fillRect/>
          </a:stretch>
        </p:blipFill>
        <p:spPr>
          <a:xfrm>
            <a:off x="2294543" y="587828"/>
            <a:ext cx="5828546" cy="3322865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BFD048-5EC4-AAC9-E556-23F1EE4B6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80E4-73E1-8457-30B4-D1E94B87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11DD-C6E5-C813-421B-B88BA600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264" y="164500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Temperature &amp; BPM Time Series Analysis</a:t>
            </a:r>
          </a:p>
          <a:p>
            <a:endParaRPr lang="en-IN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C0C72C-2487-2F91-169C-91610C6A073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5" r="745"/>
          <a:stretch>
            <a:fillRect/>
          </a:stretch>
        </p:blipFill>
        <p:spPr>
          <a:xfrm>
            <a:off x="2625166" y="698047"/>
            <a:ext cx="6000393" cy="3420835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F9097D-DC17-5175-892A-1496EBCEB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7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A5AE-51C5-D007-7610-CFD032F1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4438C-C5DD-0BD1-7737-A19338DF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1072" y="235350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Statistical Distribution Comparison</a:t>
            </a:r>
          </a:p>
          <a:p>
            <a:endParaRPr lang="en-IN" dirty="0"/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B20BD7-72CD-09F9-6462-7DC3C964E45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5" r="745"/>
          <a:stretch>
            <a:fillRect/>
          </a:stretch>
        </p:blipFill>
        <p:spPr>
          <a:xfrm>
            <a:off x="2488854" y="797671"/>
            <a:ext cx="5814224" cy="3314700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24B4B0-47F6-CAC5-1950-5479EC2D8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1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8600000">
            <a:off x="-1971675" y="1183957"/>
            <a:ext cx="4471988" cy="447198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9194" y="4404361"/>
            <a:ext cx="1109186" cy="1109186"/>
          </a:xfrm>
          <a:prstGeom prst="ellipse">
            <a:avLst/>
          </a:prstGeom>
          <a:solidFill>
            <a:srgbClr val="E4F3F7">
              <a:alpha val="90196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5"/>
          <p:cNvSpPr/>
          <p:nvPr/>
        </p:nvSpPr>
        <p:spPr>
          <a:xfrm>
            <a:off x="1169194" y="4404361"/>
            <a:ext cx="1109186" cy="110918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26154" y="1770698"/>
            <a:ext cx="3742849" cy="374284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93807" y="814865"/>
            <a:ext cx="1108710" cy="1108710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8392001" y="1183958"/>
            <a:ext cx="1108710" cy="11087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4765" y="1532097"/>
            <a:ext cx="7813834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503" y="3949541"/>
            <a:ext cx="2081689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51973" y="3949541"/>
            <a:ext cx="2507456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15" name="Picture 14" descr="A thank you card with blue leaves&#10;&#10;AI-generated content may be incorrect.">
            <a:extLst>
              <a:ext uri="{FF2B5EF4-FFF2-40B4-BE49-F238E27FC236}">
                <a16:creationId xmlns:a16="http://schemas.microsoft.com/office/drawing/2014/main" id="{12567CFA-5E92-DCE5-7664-E091B057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6862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dir="out" hasBounce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2396</TotalTime>
  <Words>703</Words>
  <Application>Microsoft Office PowerPoint</Application>
  <PresentationFormat>On-screen Show (16:9)</PresentationFormat>
  <Paragraphs>126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Georgia</vt:lpstr>
      <vt:lpstr>MiSans</vt:lpstr>
      <vt:lpstr>Trebuchet MS</vt:lpstr>
      <vt:lpstr>Times New Roman</vt:lpstr>
      <vt:lpstr>Slipstream</vt:lpstr>
      <vt:lpstr>PowerPoint Presentation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CHANDAN BELAVAGI</dc:creator>
  <cp:lastModifiedBy>atharvaark2006@gmail.com</cp:lastModifiedBy>
  <cp:revision>194</cp:revision>
  <dcterms:created xsi:type="dcterms:W3CDTF">2025-04-20T13:00:24Z</dcterms:created>
  <dcterms:modified xsi:type="dcterms:W3CDTF">2025-11-27T13:11:10Z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3675951CF7E64CB5B436BD32017E78DC_12</vt:lpwstr>
  </property>
  <property fmtid="{D5CDD505-2E9C-101B-9397-08002B2CF9AE}" pid="3" name="KSOProductBuildVer">
    <vt:lpwstr>1033-12.2.0.20795</vt:lpwstr>
  </property>
</Properties>
</file>